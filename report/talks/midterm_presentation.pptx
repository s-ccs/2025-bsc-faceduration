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9" r:id="rId2"/>
    <p:sldMasterId id="2147483688" r:id="rId3"/>
    <p:sldMasterId id="2147483703" r:id="rId4"/>
    <p:sldMasterId id="2147483709" r:id="rId5"/>
    <p:sldMasterId id="2147483714" r:id="rId6"/>
    <p:sldMasterId id="2147483720" r:id="rId7"/>
  </p:sldMasterIdLst>
  <p:notesMasterIdLst>
    <p:notesMasterId r:id="rId31"/>
  </p:notesMasterIdLst>
  <p:handoutMasterIdLst>
    <p:handoutMasterId r:id="rId32"/>
  </p:handoutMasterIdLst>
  <p:sldIdLst>
    <p:sldId id="344" r:id="rId8"/>
    <p:sldId id="374" r:id="rId9"/>
    <p:sldId id="359" r:id="rId10"/>
    <p:sldId id="350" r:id="rId11"/>
    <p:sldId id="358" r:id="rId12"/>
    <p:sldId id="357" r:id="rId13"/>
    <p:sldId id="356" r:id="rId14"/>
    <p:sldId id="351" r:id="rId15"/>
    <p:sldId id="375" r:id="rId16"/>
    <p:sldId id="361" r:id="rId17"/>
    <p:sldId id="360" r:id="rId18"/>
    <p:sldId id="363" r:id="rId19"/>
    <p:sldId id="352" r:id="rId20"/>
    <p:sldId id="365" r:id="rId21"/>
    <p:sldId id="353" r:id="rId22"/>
    <p:sldId id="369" r:id="rId23"/>
    <p:sldId id="367" r:id="rId24"/>
    <p:sldId id="371" r:id="rId25"/>
    <p:sldId id="370" r:id="rId26"/>
    <p:sldId id="378" r:id="rId27"/>
    <p:sldId id="376" r:id="rId28"/>
    <p:sldId id="354" r:id="rId29"/>
    <p:sldId id="379" r:id="rId30"/>
  </p:sldIdLst>
  <p:sldSz cx="9144000" cy="5715000" type="screen16x10"/>
  <p:notesSz cx="6858000" cy="9144000"/>
  <p:defaultTextStyle>
    <a:defPPr>
      <a:defRPr lang="de-DE"/>
    </a:defPPr>
    <a:lvl1pPr marL="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588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174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762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35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2938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524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112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70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44C"/>
    <a:srgbClr val="F89A46"/>
    <a:srgbClr val="67B967"/>
    <a:srgbClr val="3B85BC"/>
    <a:srgbClr val="D83745"/>
    <a:srgbClr val="5B9B5E"/>
    <a:srgbClr val="FD8927"/>
    <a:srgbClr val="6494B2"/>
    <a:srgbClr val="FFB9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586" autoAdjust="0"/>
    <p:restoredTop sz="95775" autoAdjust="0"/>
  </p:normalViewPr>
  <p:slideViewPr>
    <p:cSldViewPr snapToGrid="0">
      <p:cViewPr varScale="1">
        <p:scale>
          <a:sx n="132" d="100"/>
          <a:sy n="132" d="100"/>
        </p:scale>
        <p:origin x="17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32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9DDD838-A159-44B8-B62C-9BD0A3C464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B24953-1856-4DE3-972C-125ADBA307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7E7DB-42DA-44B9-9478-182E035A63AB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C7D00C-7394-40FD-AB0D-A8E748A78D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DEFBA-DB7F-4CDE-BD04-299352DA24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8422A-1294-4C5E-AEB3-106DE9101C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174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79DA3-0AA3-4449-B961-BDF7184C9B82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E8B08-EAF3-4262-87F7-B5CA32CC13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84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588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174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762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35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2938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524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112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70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4" y="2293290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4" y="2946804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fld id="{2F409A4A-3EAD-49DF-8AE6-0D7DCFE7506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50747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9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2" indent="0" algn="ctr">
              <a:buNone/>
              <a:defRPr sz="1125"/>
            </a:lvl2pPr>
            <a:lvl3pPr marL="514325" indent="0" algn="ctr">
              <a:buNone/>
              <a:defRPr sz="1013"/>
            </a:lvl3pPr>
            <a:lvl4pPr marL="771487" indent="0" algn="ctr">
              <a:buNone/>
              <a:defRPr sz="900"/>
            </a:lvl4pPr>
            <a:lvl5pPr marL="1028649" indent="0" algn="ctr">
              <a:buNone/>
              <a:defRPr sz="900"/>
            </a:lvl5pPr>
            <a:lvl6pPr marL="1285811" indent="0" algn="ctr">
              <a:buNone/>
              <a:defRPr sz="900"/>
            </a:lvl6pPr>
            <a:lvl7pPr marL="1542973" indent="0" algn="ctr">
              <a:buNone/>
              <a:defRPr sz="900"/>
            </a:lvl7pPr>
            <a:lvl8pPr marL="1800135" indent="0" algn="ctr">
              <a:buNone/>
              <a:defRPr sz="900"/>
            </a:lvl8pPr>
            <a:lvl9pPr marL="2057297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5" y="525904"/>
            <a:ext cx="1087655" cy="304271"/>
          </a:xfrm>
        </p:spPr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420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214338"/>
            <a:ext cx="7886700" cy="5355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66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248351" y="682867"/>
            <a:ext cx="6807994" cy="387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861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6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95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633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2"/>
            <a:ext cx="7887146" cy="3162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cap="small" baseline="0">
                <a:latin typeface="Myriad Pro" panose="020B0503030403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600"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111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0460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90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3" y="749911"/>
            <a:ext cx="1087655" cy="304271"/>
          </a:xfrm>
          <a:prstGeom prst="rect">
            <a:avLst/>
          </a:prstGeom>
        </p:spPr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4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4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81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4" y="393986"/>
            <a:ext cx="2136071" cy="431998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0" y="1407605"/>
            <a:ext cx="9144000" cy="4307399"/>
          </a:xfrm>
          <a:prstGeom prst="rect">
            <a:avLst/>
          </a:prstGeom>
          <a:solidFill>
            <a:srgbClr val="3E444C"/>
          </a:solidFill>
          <a:ln>
            <a:solidFill>
              <a:srgbClr val="3E4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80" dirty="0">
              <a:latin typeface="Verdana Pro" panose="020B0604030504040204" pitchFamily="34" charset="0"/>
            </a:endParaRP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924204" y="713127"/>
            <a:ext cx="3938807" cy="39120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88205" y="1618407"/>
            <a:ext cx="4536000" cy="2929317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890" b="1">
                <a:solidFill>
                  <a:schemeClr val="bg1"/>
                </a:solidFill>
              </a:defRPr>
            </a:lvl1pPr>
            <a:lvl2pPr marL="118941" indent="0">
              <a:buFontTx/>
              <a:buNone/>
              <a:defRPr sz="1890" b="1">
                <a:solidFill>
                  <a:schemeClr val="bg1"/>
                </a:solidFill>
              </a:defRPr>
            </a:lvl2pPr>
            <a:lvl3pPr marL="243239" indent="0">
              <a:buFontTx/>
              <a:buNone/>
              <a:defRPr sz="1890" b="1">
                <a:solidFill>
                  <a:schemeClr val="bg1"/>
                </a:solidFill>
              </a:defRPr>
            </a:lvl3pPr>
            <a:lvl4pPr marL="362180" indent="0">
              <a:buFontTx/>
              <a:buNone/>
              <a:defRPr sz="1890" b="1">
                <a:solidFill>
                  <a:schemeClr val="bg1"/>
                </a:solidFill>
              </a:defRPr>
            </a:lvl4pPr>
            <a:lvl5pPr marL="486478" indent="0">
              <a:buFontTx/>
              <a:buNone/>
              <a:defRPr sz="189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0" y="4625216"/>
            <a:ext cx="4535487" cy="65405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8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08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8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8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80">
                <a:solidFill>
                  <a:schemeClr val="bg1"/>
                </a:solidFill>
              </a:defRPr>
            </a:lvl5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9" name="bk object 16">
            <a:extLst>
              <a:ext uri="{FF2B5EF4-FFF2-40B4-BE49-F238E27FC236}">
                <a16:creationId xmlns:a16="http://schemas.microsoft.com/office/drawing/2014/main" id="{9F06F840-C43E-4E82-A9AB-916CF237BE3C}"/>
              </a:ext>
            </a:extLst>
          </p:cNvPr>
          <p:cNvSpPr/>
          <p:nvPr userDrawn="1"/>
        </p:nvSpPr>
        <p:spPr>
          <a:xfrm>
            <a:off x="7094551" y="95898"/>
            <a:ext cx="1982235" cy="2923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222FC9B-BDF1-46B4-930E-DC25A1BB93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708" y="421293"/>
            <a:ext cx="1034078" cy="29395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CF37149-6F6F-47E4-9763-516B76A5D08C}"/>
              </a:ext>
            </a:extLst>
          </p:cNvPr>
          <p:cNvSpPr txBox="1"/>
          <p:nvPr userDrawn="1"/>
        </p:nvSpPr>
        <p:spPr>
          <a:xfrm>
            <a:off x="859243" y="678519"/>
            <a:ext cx="32588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Univers" panose="020B0503020202020204" pitchFamily="34" charset="0"/>
              </a:rPr>
              <a:t>Computational Cognitive Science</a:t>
            </a:r>
          </a:p>
        </p:txBody>
      </p:sp>
    </p:spTree>
    <p:extLst>
      <p:ext uri="{BB962C8B-B14F-4D97-AF65-F5344CB8AC3E}">
        <p14:creationId xmlns:p14="http://schemas.microsoft.com/office/powerpoint/2010/main" val="319556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00244-A3F4-4C44-971D-913FE104B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6E2312-BFAF-47CA-9616-30BA5667D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93180C-4102-4D35-9C5A-F0854A6F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1B7749-E39E-49DA-A071-7155A706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7D8397-6656-42A8-B96A-58D9A5ED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34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22E6E-49B5-4103-8F45-47ECA7C1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7F001A-4A3F-4041-B3A7-84989E41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D1D12-3A64-486D-BEF9-12987D78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DADA46-566B-4297-92E0-35A29633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05EB86-581B-40CB-AA86-82C27527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66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BCBEE-B756-40CC-A424-243D2625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6"/>
            <a:ext cx="7886700" cy="2377281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DD5B8C-9562-43D4-85E7-A7688CBF0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5"/>
            <a:ext cx="7886700" cy="1250156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68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1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3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870FCD-B8A5-47E7-9B17-1E98669F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EE4032-5942-423E-B589-4502DA19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53F83A-8EEC-4249-B00A-661C9C4E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347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76829-4F77-4318-902F-7E2B3081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3E13FB-5921-47D3-945C-301194E68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4495F1-51FA-4630-A9DF-42548EA91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6D3E9A-5651-4314-81EC-323848C8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D9CD41-0F2E-4E02-AF61-460CE07C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D123BA-F50B-4858-8753-6F0B80DD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492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53D02-C073-40C8-9B47-F5AC3B66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5D3119-776C-4817-A06F-41E058B21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4C9747-DC6E-4580-A1EF-FBD570C53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95EB59-5835-4745-BC49-C17649D1F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400969"/>
            <a:ext cx="3887391" cy="68659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CABD20-3021-48E1-A51F-31350E036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087563"/>
            <a:ext cx="3887391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57A61F-BF17-4775-BF68-6BE4B375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878ED7-EF6C-41CC-B8B4-06837185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022E264-5F40-49D2-94FA-88A08A1C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502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06473-7ABC-4B8C-8F64-4A4A954F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05567D-EA3C-4B86-B85D-ACC437DC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5235E6-EC24-4549-914C-7DDC81A86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059B5C-2371-4605-9BE5-9E2DFD62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331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0CD95D-2451-4A50-8C41-E25D035A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D4ABC6-FBAE-4AFB-B788-AA9EBE01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27B132-4086-423D-BE76-D6B977E6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FD7652-5BBB-4060-98A7-0FA8DADAA1B8}"/>
              </a:ext>
            </a:extLst>
          </p:cNvPr>
          <p:cNvSpPr/>
          <p:nvPr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133DA-40CF-430B-9F73-3FDA86D44811}"/>
              </a:ext>
            </a:extLst>
          </p:cNvPr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</p:spTree>
    <p:extLst>
      <p:ext uri="{BB962C8B-B14F-4D97-AF65-F5344CB8AC3E}">
        <p14:creationId xmlns:p14="http://schemas.microsoft.com/office/powerpoint/2010/main" val="42316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B2248-3FDA-4283-8CAD-4A5B643A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594E04-C1F0-45EB-8EDA-B6A4D1DEF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B57B88-8814-40D9-8739-B75F8CF13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900"/>
            </a:lvl1pPr>
            <a:lvl2pPr marL="257168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2" indent="0">
              <a:buNone/>
              <a:defRPr sz="563"/>
            </a:lvl7pPr>
            <a:lvl8pPr marL="1800180" indent="0">
              <a:buNone/>
              <a:defRPr sz="563"/>
            </a:lvl8pPr>
            <a:lvl9pPr marL="2057348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869EA1-CA93-42F0-843E-1C0B58AB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2DA248-53C7-40EA-8A4E-E5DF2418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615843-9E0F-4683-BD4E-53CC6269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697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9EE95-4956-4F1B-93C2-62F7EA4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528D31-7227-4ADC-9DF7-073F6D44F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65966C-D907-4F8E-9DF2-F55ED426A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900"/>
            </a:lvl1pPr>
            <a:lvl2pPr marL="257168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2" indent="0">
              <a:buNone/>
              <a:defRPr sz="563"/>
            </a:lvl7pPr>
            <a:lvl8pPr marL="1800180" indent="0">
              <a:buNone/>
              <a:defRPr sz="563"/>
            </a:lvl8pPr>
            <a:lvl9pPr marL="2057348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A3C284-4E08-49E2-BF25-21C590AD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847D3E-D8EC-4651-AD80-D7C97C13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3FFE08-B256-4014-88BC-93518315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4519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61F50-7A0E-4706-9F58-2B95D956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6AB01F-0C4C-4294-9733-8524FE5DF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9E356-AB8D-4F03-92B1-3E49435F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C5BCB4-C252-4887-B25B-E2948037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156F96-BC00-41DA-9AC9-01B28CF3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0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AF84DA-DD68-450E-9487-2F27E9CE7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9C8D28-E56F-4F9B-902E-7ECA728CF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304271"/>
            <a:ext cx="5800725" cy="48431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97B2B1-67A1-4AB5-A2A2-29A52A17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D0A43A-2B2F-4C38-891F-E92DB2FA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82262B-28CA-4D34-ACE7-F86BB689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217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21852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109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0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349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2" y="2293286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2" y="2946801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fld id="{2F409A4A-3EAD-49DF-8AE6-0D7DCFE7506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831623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6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3" y="525901"/>
            <a:ext cx="1087655" cy="304271"/>
          </a:xfrm>
        </p:spPr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290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214335"/>
            <a:ext cx="7886700" cy="5355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248351" y="682867"/>
            <a:ext cx="6807994" cy="387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3090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22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65533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40117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82971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87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1" y="749907"/>
            <a:ext cx="1087655" cy="304271"/>
          </a:xfrm>
          <a:prstGeom prst="rect">
            <a:avLst/>
          </a:prstGeom>
        </p:spPr>
        <p:txBody>
          <a:bodyPr/>
          <a:lstStyle/>
          <a:p>
            <a:fld id="{F16B0610-2A41-4147-9028-430DB42FBA95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1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60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774F300-0503-4323-B224-F985EC84B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4170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7264-46E2-4F81-815E-C15DEFA94A08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5B51-9806-4958-B525-B1D932963F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8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41143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5B51-9806-4958-B525-B1D932963F8B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0928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457950" y="5296962"/>
            <a:ext cx="2057400" cy="304271"/>
          </a:xfrm>
          <a:prstGeom prst="rect">
            <a:avLst/>
          </a:prstGeom>
        </p:spPr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0515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4" y="344529"/>
            <a:ext cx="2136071" cy="431998"/>
          </a:xfrm>
          <a:prstGeom prst="rect">
            <a:avLst/>
          </a:prstGeom>
        </p:spPr>
      </p:pic>
      <p:sp>
        <p:nvSpPr>
          <p:cNvPr id="6" name="Rechteck 5"/>
          <p:cNvSpPr/>
          <p:nvPr userDrawn="1"/>
        </p:nvSpPr>
        <p:spPr>
          <a:xfrm>
            <a:off x="0" y="1407605"/>
            <a:ext cx="9144000" cy="43073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80" dirty="0">
              <a:latin typeface="Verdana Pro" panose="020B0604030504040204" pitchFamily="34" charset="0"/>
            </a:endParaRP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970584" y="1004403"/>
            <a:ext cx="3913200" cy="39120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2455" y="648000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81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9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7437800" y="4050005"/>
            <a:ext cx="1329711" cy="1329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608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88205" y="1618407"/>
            <a:ext cx="4536000" cy="2929317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890" b="1">
                <a:solidFill>
                  <a:schemeClr val="bg1"/>
                </a:solidFill>
              </a:defRPr>
            </a:lvl1pPr>
            <a:lvl2pPr marL="118941" indent="0">
              <a:buFontTx/>
              <a:buNone/>
              <a:defRPr sz="1890" b="1">
                <a:solidFill>
                  <a:schemeClr val="bg1"/>
                </a:solidFill>
              </a:defRPr>
            </a:lvl2pPr>
            <a:lvl3pPr marL="243239" indent="0">
              <a:buFontTx/>
              <a:buNone/>
              <a:defRPr sz="1890" b="1">
                <a:solidFill>
                  <a:schemeClr val="bg1"/>
                </a:solidFill>
              </a:defRPr>
            </a:lvl3pPr>
            <a:lvl4pPr marL="362180" indent="0">
              <a:buFontTx/>
              <a:buNone/>
              <a:defRPr sz="1890" b="1">
                <a:solidFill>
                  <a:schemeClr val="bg1"/>
                </a:solidFill>
              </a:defRPr>
            </a:lvl4pPr>
            <a:lvl5pPr marL="486478" indent="0">
              <a:buFontTx/>
              <a:buNone/>
              <a:defRPr sz="189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0" y="4625216"/>
            <a:ext cx="4535487" cy="65405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8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08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8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8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80">
                <a:solidFill>
                  <a:schemeClr val="bg1"/>
                </a:solidFill>
              </a:defRPr>
            </a:lvl5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3294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957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770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 dirty="0">
              <a:latin typeface="HelveticaNeueLT Pro 45 Lt" panose="020B0403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87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1" y="749907"/>
            <a:ext cx="1087655" cy="30427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fld id="{F16B0610-2A41-4147-9028-430DB42FBA95}" type="datetimeFigureOut">
              <a:rPr lang="de-DE" smtClean="0"/>
              <a:pPr/>
              <a:t>05.12.25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1"/>
            <a:ext cx="3086100" cy="30427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6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3" y="525901"/>
            <a:ext cx="1087655" cy="304271"/>
          </a:xfr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fld id="{F16B0610-2A41-4147-9028-430DB42FBA95}" type="datetimeFigureOut">
              <a:rPr lang="de-DE" smtClean="0"/>
              <a:pPr/>
              <a:t>05.12.25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139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2" y="2293286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2" y="2946801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Benedikt Ehinger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84650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2764180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3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83652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73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6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1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1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2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2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3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38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43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89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76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65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54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41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30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18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06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094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6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1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1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2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2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3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38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43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9"/>
            <a:ext cx="9144000" cy="408886"/>
          </a:xfrm>
          <a:prstGeom prst="rect">
            <a:avLst/>
          </a:prstGeom>
          <a:solidFill>
            <a:srgbClr val="3E444C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3" y="5373876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3E4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/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5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87" r:id="rId4"/>
  </p:sldLayoutIdLst>
  <p:txStyles>
    <p:titleStyle>
      <a:lvl1pPr algn="l" defTabSz="361622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6" indent="-90406" algn="l" defTabSz="361622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17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27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38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49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6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27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081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89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1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22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32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43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54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65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675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486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3F619A1-D1E9-429C-902E-DECB7980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49E562-43E1-45ED-98DE-9FEFBDF0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936172-EA75-4688-BBB5-23A03AD76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62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84961-95F9-4150-895C-A2B8F9C8F1C6}" type="datetimeFigureOut">
              <a:rPr lang="de-DE" smtClean="0"/>
              <a:t>05.12.25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10FD4E-22F6-42E3-95E8-96C6E6BD8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7D5CA3-6553-453A-9A8B-FBB749EE6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62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8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28" r:id="rId1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5" indent="-128585" algn="l" defTabSz="514337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5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22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3426871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4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70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9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85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7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7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6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56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4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4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13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5"/>
            <a:ext cx="9144000" cy="408886"/>
          </a:xfrm>
          <a:prstGeom prst="rect">
            <a:avLst/>
          </a:prstGeom>
          <a:solidFill>
            <a:srgbClr val="273845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1" y="5373873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27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/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6731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</p:sldLayoutIdLst>
  <p:txStyles>
    <p:titleStyle>
      <a:lvl1pPr algn="l" defTabSz="361631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8" indent="-90408" algn="l" defTabSz="361631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23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38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5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6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84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300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11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92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5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3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4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6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7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9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70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52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3426871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4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9076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9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85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7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7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6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56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4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4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13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5"/>
            <a:ext cx="9144000" cy="408886"/>
          </a:xfrm>
          <a:prstGeom prst="rect">
            <a:avLst/>
          </a:prstGeom>
          <a:solidFill>
            <a:srgbClr val="273845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>
              <a:latin typeface="HelveticaNeueLT Pro 45 Lt" panose="020B0403020202020204" pitchFamily="34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1" y="5373873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27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>
              <a:latin typeface="HelveticaNeueLT Pro 45 Lt" panose="020B0403020202020204" pitchFamily="34" charset="0"/>
            </a:endParaRPr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716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361631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8" indent="-90408" algn="l" defTabSz="361631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23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38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5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6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84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300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11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92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5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3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4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6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7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9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70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52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hyperlink" Target="https://unfoldtoolbox.github.io/UnfoldDocs/Unfold.jl/stable/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CD56633-4457-4ECA-8BA1-40CDDC9DF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anchor="ctr">
            <a:normAutofit/>
          </a:bodyPr>
          <a:lstStyle/>
          <a:p>
            <a:r>
              <a:rPr lang="de-DE" sz="2000" b="0" dirty="0" err="1"/>
              <a:t>Effect</a:t>
            </a:r>
            <a:r>
              <a:rPr lang="de-DE" sz="2000" b="0" dirty="0"/>
              <a:t> </a:t>
            </a:r>
            <a:r>
              <a:rPr lang="de-DE" sz="2000" b="0" dirty="0" err="1"/>
              <a:t>of</a:t>
            </a:r>
            <a:r>
              <a:rPr lang="de-DE" sz="2000" b="0" dirty="0"/>
              <a:t> </a:t>
            </a:r>
            <a:r>
              <a:rPr lang="de-DE" sz="2000" b="0" dirty="0" err="1"/>
              <a:t>stimulus</a:t>
            </a:r>
            <a:r>
              <a:rPr lang="de-DE" sz="2000" b="0" dirty="0"/>
              <a:t> </a:t>
            </a:r>
            <a:r>
              <a:rPr lang="de-DE" sz="2000" b="0" dirty="0" err="1"/>
              <a:t>duration</a:t>
            </a:r>
            <a:r>
              <a:rPr lang="de-DE" sz="2000" b="0" dirty="0"/>
              <a:t> on event-</a:t>
            </a:r>
            <a:r>
              <a:rPr lang="de-DE" sz="2000" b="0" dirty="0" err="1"/>
              <a:t>related</a:t>
            </a:r>
            <a:r>
              <a:rPr lang="de-DE" sz="2000" b="0" dirty="0"/>
              <a:t> </a:t>
            </a:r>
            <a:r>
              <a:rPr lang="de-DE" sz="2000" b="0" dirty="0" err="1"/>
              <a:t>potentials</a:t>
            </a:r>
            <a:r>
              <a:rPr lang="de-DE" sz="2000" b="0" dirty="0"/>
              <a:t> </a:t>
            </a:r>
            <a:r>
              <a:rPr lang="de-DE" sz="2000" b="0" dirty="0" err="1"/>
              <a:t>during</a:t>
            </a:r>
            <a:r>
              <a:rPr lang="de-DE" sz="2000" b="0" dirty="0"/>
              <a:t> a rapid </a:t>
            </a:r>
            <a:r>
              <a:rPr lang="de-DE" sz="2000" b="0" dirty="0" err="1"/>
              <a:t>serial</a:t>
            </a:r>
            <a:r>
              <a:rPr lang="de-DE" sz="2000" b="0" dirty="0"/>
              <a:t> </a:t>
            </a:r>
            <a:r>
              <a:rPr lang="de-DE" sz="2000" b="0" dirty="0" err="1"/>
              <a:t>visual</a:t>
            </a:r>
            <a:r>
              <a:rPr lang="de-DE" sz="2000" b="0" dirty="0"/>
              <a:t> </a:t>
            </a:r>
            <a:r>
              <a:rPr lang="de-DE" sz="2000" b="0" dirty="0" err="1"/>
              <a:t>presentation</a:t>
            </a:r>
            <a:r>
              <a:rPr lang="de-DE" sz="2000" b="0" dirty="0"/>
              <a:t> </a:t>
            </a:r>
            <a:r>
              <a:rPr lang="de-DE" sz="2000" b="0" dirty="0" err="1"/>
              <a:t>task</a:t>
            </a:r>
            <a:endParaRPr lang="de-DE" sz="2000" b="0" dirty="0"/>
          </a:p>
          <a:p>
            <a:endParaRPr lang="de-DE" sz="2000" b="0" dirty="0"/>
          </a:p>
        </p:txBody>
      </p:sp>
      <p:pic>
        <p:nvPicPr>
          <p:cNvPr id="15" name="Bildplatzhalter 14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E8B6563-266D-9321-1C37-656008D1DF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" b="322"/>
          <a:stretch>
            <a:fillRect/>
          </a:stretch>
        </p:blipFill>
        <p:spPr/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E2AF696-4E96-7306-22EB-8E8A96DD1C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de-DE" sz="1400" dirty="0"/>
              <a:t>Bachelor </a:t>
            </a:r>
            <a:r>
              <a:rPr lang="de-DE" sz="1400" dirty="0" err="1"/>
              <a:t>thesis</a:t>
            </a:r>
            <a:r>
              <a:rPr lang="de-DE" sz="1400" dirty="0"/>
              <a:t> </a:t>
            </a:r>
            <a:r>
              <a:rPr lang="de-DE" sz="1400" dirty="0" err="1"/>
              <a:t>midterm</a:t>
            </a:r>
            <a:r>
              <a:rPr lang="de-DE" sz="1400" dirty="0"/>
              <a:t> </a:t>
            </a:r>
            <a:r>
              <a:rPr lang="de-DE" sz="1400" dirty="0" err="1"/>
              <a:t>presentation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88114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CE37-8B47-F29F-38AA-3234444B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95E5-E2FE-80FB-9A40-A113EBA7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6760C-889A-7D4C-450D-211F017C6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Figure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sz="1200" dirty="0">
                <a:latin typeface="Helvetica Light" panose="020B0403020202020204" pitchFamily="34" charset="0"/>
              </a:rPr>
              <a:t>“Brain </a:t>
            </a:r>
            <a:r>
              <a:rPr lang="de-DE" sz="1200" dirty="0" err="1">
                <a:latin typeface="Helvetica Light" panose="020B0403020202020204" pitchFamily="34" charset="0"/>
              </a:rPr>
              <a:t>responses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vary</a:t>
            </a:r>
            <a:r>
              <a:rPr lang="de-DE" sz="1200" dirty="0">
                <a:latin typeface="Helvetica Light" panose="020B0403020202020204" pitchFamily="34" charset="0"/>
              </a:rPr>
              <a:t> in </a:t>
            </a:r>
            <a:r>
              <a:rPr lang="de-DE" sz="1200" dirty="0" err="1">
                <a:latin typeface="Helvetica Light" panose="020B0403020202020204" pitchFamily="34" charset="0"/>
              </a:rPr>
              <a:t>duration</a:t>
            </a:r>
            <a:r>
              <a:rPr lang="de-DE" sz="1200" dirty="0">
                <a:latin typeface="Helvetica Light" panose="020B0403020202020204" pitchFamily="34" charset="0"/>
              </a:rPr>
              <a:t> - </a:t>
            </a:r>
            <a:r>
              <a:rPr lang="de-DE" sz="1200" dirty="0" err="1">
                <a:latin typeface="Helvetica Light" panose="020B0403020202020204" pitchFamily="34" charset="0"/>
              </a:rPr>
              <a:t>modeling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strategies</a:t>
            </a:r>
            <a:r>
              <a:rPr lang="de-DE" sz="1200" dirty="0">
                <a:latin typeface="Helvetica Light" panose="020B0403020202020204" pitchFamily="34" charset="0"/>
              </a:rPr>
              <a:t> and </a:t>
            </a:r>
            <a:r>
              <a:rPr lang="de-DE" sz="1200" dirty="0" err="1">
                <a:latin typeface="Helvetica Light" panose="020B0403020202020204" pitchFamily="34" charset="0"/>
              </a:rPr>
              <a:t>challenges</a:t>
            </a:r>
            <a:r>
              <a:rPr lang="de-DE" sz="1200" dirty="0">
                <a:latin typeface="Helvetica Light" panose="020B0403020202020204" pitchFamily="34" charset="0"/>
              </a:rPr>
              <a:t>.” </a:t>
            </a:r>
            <a:r>
              <a:rPr lang="de-DE" sz="1200" dirty="0" err="1">
                <a:latin typeface="Helvetica Light" panose="020B0403020202020204" pitchFamily="34" charset="0"/>
              </a:rPr>
              <a:t>by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Skukies</a:t>
            </a:r>
            <a:r>
              <a:rPr lang="de-DE" sz="1200" dirty="0">
                <a:latin typeface="Helvetica Light" panose="020B0403020202020204" pitchFamily="34" charset="0"/>
              </a:rPr>
              <a:t> et. al., 2025, </a:t>
            </a:r>
            <a:r>
              <a:rPr lang="de-DE" sz="1200" dirty="0" err="1">
                <a:latin typeface="Helvetica Light" panose="020B0403020202020204" pitchFamily="34" charset="0"/>
              </a:rPr>
              <a:t>bioRxiv</a:t>
            </a:r>
            <a:r>
              <a:rPr lang="de-DE" sz="1200" dirty="0">
                <a:latin typeface="Helvetica Light" panose="020B0403020202020204" pitchFamily="34" charset="0"/>
              </a:rPr>
              <a:t>. CC-BY-NC-ND 4.0.</a:t>
            </a:r>
            <a:r>
              <a:rPr lang="de-DE" dirty="0"/>
              <a:t> </a:t>
            </a:r>
          </a:p>
        </p:txBody>
      </p:sp>
      <p:pic>
        <p:nvPicPr>
          <p:cNvPr id="5" name="Inhaltsplatzhalter 4" descr="Ein Bild, das Diagramm, Reihe, Origami, Muster enthält.&#10;&#10;KI-generierte Inhalte können fehlerhaft sein.">
            <a:extLst>
              <a:ext uri="{FF2B5EF4-FFF2-40B4-BE49-F238E27FC236}">
                <a16:creationId xmlns:a16="http://schemas.microsoft.com/office/drawing/2014/main" id="{DE8EBAAC-F0D6-109B-1DF0-6A9F8F2EC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6"/>
          <a:stretch>
            <a:fillRect/>
          </a:stretch>
        </p:blipFill>
        <p:spPr>
          <a:xfrm>
            <a:off x="1216777" y="835743"/>
            <a:ext cx="6710445" cy="3438894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0A40DB2-B357-EE66-1188-E9CB345EF099}"/>
              </a:ext>
            </a:extLst>
          </p:cNvPr>
          <p:cNvSpPr txBox="1"/>
          <p:nvPr/>
        </p:nvSpPr>
        <p:spPr>
          <a:xfrm>
            <a:off x="1287927" y="4384000"/>
            <a:ext cx="6712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Exemplary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duration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effects</a:t>
            </a:r>
            <a:r>
              <a:rPr lang="de-DE" sz="1200" dirty="0">
                <a:latin typeface="Helvetica Light" panose="020B0403020202020204" pitchFamily="34" charset="0"/>
              </a:rPr>
              <a:t> in different </a:t>
            </a:r>
            <a:r>
              <a:rPr lang="de-DE" sz="1200" dirty="0" err="1">
                <a:latin typeface="Helvetica Light" panose="020B0403020202020204" pitchFamily="34" charset="0"/>
              </a:rPr>
              <a:t>modalities</a:t>
            </a:r>
            <a:r>
              <a:rPr lang="de-DE" sz="1200" dirty="0">
                <a:latin typeface="Helvetica Light" panose="020B0403020202020204" pitchFamily="34" charset="0"/>
              </a:rPr>
              <a:t>. </a:t>
            </a:r>
          </a:p>
          <a:p>
            <a:r>
              <a:rPr lang="de-DE" sz="1200" dirty="0">
                <a:latin typeface="Helvetica Light" panose="020B0403020202020204" pitchFamily="34" charset="0"/>
              </a:rPr>
              <a:t>A: </a:t>
            </a:r>
            <a:r>
              <a:rPr lang="de-DE" sz="1200" dirty="0" err="1">
                <a:latin typeface="Helvetica Light" panose="020B0403020202020204" pitchFamily="34" charset="0"/>
              </a:rPr>
              <a:t>normalized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pupil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response</a:t>
            </a:r>
            <a:r>
              <a:rPr lang="de-DE" sz="1200" dirty="0">
                <a:latin typeface="Helvetica Light" panose="020B0403020202020204" pitchFamily="34" charset="0"/>
              </a:rPr>
              <a:t> (Snowden et al. 2016), B: BOLD </a:t>
            </a:r>
            <a:r>
              <a:rPr lang="de-DE" sz="1200" dirty="0" err="1">
                <a:latin typeface="Helvetica Light" panose="020B0403020202020204" pitchFamily="34" charset="0"/>
              </a:rPr>
              <a:t>response</a:t>
            </a:r>
            <a:r>
              <a:rPr lang="de-DE" sz="1200" dirty="0">
                <a:latin typeface="Helvetica Light" panose="020B0403020202020204" pitchFamily="34" charset="0"/>
              </a:rPr>
              <a:t> in fMRI (Glover 1999), </a:t>
            </a:r>
          </a:p>
          <a:p>
            <a:r>
              <a:rPr lang="de-DE" sz="1200" dirty="0">
                <a:latin typeface="Helvetica Light" panose="020B0403020202020204" pitchFamily="34" charset="0"/>
              </a:rPr>
              <a:t>C: </a:t>
            </a:r>
            <a:r>
              <a:rPr lang="de-DE" sz="1200" dirty="0" err="1">
                <a:latin typeface="Helvetica Light" panose="020B0403020202020204" pitchFamily="34" charset="0"/>
              </a:rPr>
              <a:t>fixation</a:t>
            </a:r>
            <a:r>
              <a:rPr lang="de-DE" sz="1200">
                <a:latin typeface="Helvetica Light" panose="020B0403020202020204" pitchFamily="34" charset="0"/>
              </a:rPr>
              <a:t> ERP </a:t>
            </a:r>
            <a:r>
              <a:rPr lang="de-DE" sz="1200" dirty="0">
                <a:latin typeface="Helvetica Light" panose="020B0403020202020204" pitchFamily="34" charset="0"/>
              </a:rPr>
              <a:t>(</a:t>
            </a:r>
            <a:r>
              <a:rPr lang="de-DE" sz="1200" dirty="0" err="1">
                <a:latin typeface="Helvetica Light" panose="020B0403020202020204" pitchFamily="34" charset="0"/>
              </a:rPr>
              <a:t>Skukies</a:t>
            </a:r>
            <a:r>
              <a:rPr lang="de-DE" sz="1200" dirty="0">
                <a:latin typeface="Helvetica Light" panose="020B0403020202020204" pitchFamily="34" charset="0"/>
              </a:rPr>
              <a:t> et. al. 2025, </a:t>
            </a:r>
            <a:r>
              <a:rPr lang="de-DE" sz="1200" dirty="0" err="1">
                <a:latin typeface="Helvetica Light" panose="020B0403020202020204" pitchFamily="34" charset="0"/>
              </a:rPr>
              <a:t>data</a:t>
            </a:r>
            <a:r>
              <a:rPr lang="de-DE" sz="1200" dirty="0">
                <a:latin typeface="Helvetica Light" panose="020B0403020202020204" pitchFamily="34" charset="0"/>
              </a:rPr>
              <a:t>: Gert et. al. 2022)</a:t>
            </a:r>
          </a:p>
        </p:txBody>
      </p:sp>
    </p:spTree>
    <p:extLst>
      <p:ext uri="{BB962C8B-B14F-4D97-AF65-F5344CB8AC3E}">
        <p14:creationId xmlns:p14="http://schemas.microsoft.com/office/powerpoint/2010/main" val="15997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ADD5-60DC-8C23-F568-0B112572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A576-3AF7-FA06-69DD-F6C06EF9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30AB-5C72-29C8-E6FB-C0AB0E33B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C76971-9147-7D1D-6142-2223046A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5" name="Grafik 4" descr="Ein Bild, das Screenshot, Menschliches Gesicht, Kunst, Design enthält.&#10;&#10;KI-generierte Inhalte können fehlerhaft sein.">
            <a:extLst>
              <a:ext uri="{FF2B5EF4-FFF2-40B4-BE49-F238E27FC236}">
                <a16:creationId xmlns:a16="http://schemas.microsoft.com/office/drawing/2014/main" id="{850EC305-C958-DA2D-491C-B0BFAD5E5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92" y="1449614"/>
            <a:ext cx="3897034" cy="2457243"/>
          </a:xfrm>
          <a:prstGeom prst="rect">
            <a:avLst/>
          </a:prstGeom>
        </p:spPr>
      </p:pic>
      <p:pic>
        <p:nvPicPr>
          <p:cNvPr id="8" name="Grafik 7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55803CB-0FBB-05B1-220A-CD950527A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037" y="1100780"/>
            <a:ext cx="3954688" cy="288807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4CA26C2-7212-98AE-A693-5AA357B539BA}"/>
              </a:ext>
            </a:extLst>
          </p:cNvPr>
          <p:cNvSpPr txBox="1"/>
          <p:nvPr/>
        </p:nvSpPr>
        <p:spPr>
          <a:xfrm>
            <a:off x="261309" y="4614220"/>
            <a:ext cx="8678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Helvetica" pitchFamily="2" charset="0"/>
              </a:rPr>
              <a:t>6 </a:t>
            </a:r>
            <a:r>
              <a:rPr lang="de-DE" sz="1600" dirty="0" err="1">
                <a:latin typeface="Helvetica" pitchFamily="2" charset="0"/>
              </a:rPr>
              <a:t>blocks</a:t>
            </a:r>
            <a:r>
              <a:rPr lang="de-DE" sz="1600" dirty="0">
                <a:latin typeface="Helvetica" pitchFamily="2" charset="0"/>
              </a:rPr>
              <a:t> (3 </a:t>
            </a:r>
            <a:r>
              <a:rPr lang="de-DE" sz="1600" dirty="0" err="1">
                <a:latin typeface="Helvetica" pitchFamily="2" charset="0"/>
              </a:rPr>
              <a:t>with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blanks</a:t>
            </a:r>
            <a:r>
              <a:rPr lang="de-DE" sz="1600" dirty="0">
                <a:latin typeface="Helvetica" pitchFamily="2" charset="0"/>
              </a:rPr>
              <a:t>, 3 </a:t>
            </a:r>
            <a:r>
              <a:rPr lang="de-DE" sz="1600" dirty="0" err="1">
                <a:latin typeface="Helvetica" pitchFamily="2" charset="0"/>
              </a:rPr>
              <a:t>without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blanks</a:t>
            </a:r>
            <a:r>
              <a:rPr lang="de-DE" sz="1600" dirty="0">
                <a:latin typeface="Helvetica" pitchFamily="2" charset="0"/>
              </a:rPr>
              <a:t>), </a:t>
            </a:r>
            <a:r>
              <a:rPr lang="de-DE" sz="1600" dirty="0" err="1">
                <a:latin typeface="Helvetica" pitchFamily="2" charset="0"/>
              </a:rPr>
              <a:t>with</a:t>
            </a:r>
            <a:r>
              <a:rPr lang="de-DE" sz="1600" dirty="0">
                <a:latin typeface="Helvetica" pitchFamily="2" charset="0"/>
              </a:rPr>
              <a:t> 120 </a:t>
            </a:r>
            <a:r>
              <a:rPr lang="de-DE" sz="1600" dirty="0" err="1">
                <a:latin typeface="Helvetica" pitchFamily="2" charset="0"/>
              </a:rPr>
              <a:t>images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each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were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conducted</a:t>
            </a:r>
            <a:r>
              <a:rPr lang="de-DE" sz="1600" dirty="0">
                <a:latin typeface="Helvetica" pitchFamily="2" charset="0"/>
              </a:rPr>
              <a:t> per </a:t>
            </a:r>
            <a:r>
              <a:rPr lang="de-DE" sz="1600" dirty="0" err="1">
                <a:latin typeface="Helvetica" pitchFamily="2" charset="0"/>
              </a:rPr>
              <a:t>participant</a:t>
            </a:r>
            <a:endParaRPr lang="de-DE" sz="1600" dirty="0">
              <a:latin typeface="Helvetica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FDD504-A04C-0478-BCC9-40DE2A8F86A4}"/>
              </a:ext>
            </a:extLst>
          </p:cNvPr>
          <p:cNvSpPr txBox="1"/>
          <p:nvPr/>
        </p:nvSpPr>
        <p:spPr>
          <a:xfrm>
            <a:off x="529513" y="3971200"/>
            <a:ext cx="3483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Trials </a:t>
            </a:r>
            <a:r>
              <a:rPr lang="de-DE" sz="1200" dirty="0" err="1">
                <a:latin typeface="Helvetica Light" panose="020B0403020202020204" pitchFamily="34" charset="0"/>
              </a:rPr>
              <a:t>without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blanks</a:t>
            </a:r>
            <a:r>
              <a:rPr lang="de-DE" sz="1200" dirty="0">
                <a:latin typeface="Helvetica Light" panose="020B0403020202020204" pitchFamily="34" charset="0"/>
              </a:rPr>
              <a:t> in-</a:t>
            </a:r>
            <a:r>
              <a:rPr lang="de-DE" sz="1200" dirty="0" err="1">
                <a:latin typeface="Helvetica Light" panose="020B0403020202020204" pitchFamily="34" charset="0"/>
              </a:rPr>
              <a:t>between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85473F9-7296-9C28-31A0-A6102312F0D6}"/>
              </a:ext>
            </a:extLst>
          </p:cNvPr>
          <p:cNvSpPr txBox="1"/>
          <p:nvPr/>
        </p:nvSpPr>
        <p:spPr>
          <a:xfrm>
            <a:off x="5130802" y="3988851"/>
            <a:ext cx="3483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Trials </a:t>
            </a:r>
            <a:r>
              <a:rPr lang="de-DE" sz="1200" dirty="0" err="1">
                <a:latin typeface="Helvetica Light" panose="020B0403020202020204" pitchFamily="34" charset="0"/>
              </a:rPr>
              <a:t>with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blanks</a:t>
            </a:r>
            <a:r>
              <a:rPr lang="de-DE" sz="1200" dirty="0">
                <a:latin typeface="Helvetica Light" panose="020B0403020202020204" pitchFamily="34" charset="0"/>
              </a:rPr>
              <a:t> in-</a:t>
            </a:r>
            <a:r>
              <a:rPr lang="de-DE" sz="1200" dirty="0" err="1">
                <a:latin typeface="Helvetica Light" panose="020B0403020202020204" pitchFamily="34" charset="0"/>
              </a:rPr>
              <a:t>between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7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89336F-E6F4-496E-9F1A-A2112C68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Participants</a:t>
            </a:r>
            <a:endParaRPr lang="en-US" b="1" dirty="0"/>
          </a:p>
          <a:p>
            <a:r>
              <a:rPr lang="en-US" dirty="0"/>
              <a:t> 38 participants (all right-handed)</a:t>
            </a:r>
          </a:p>
          <a:p>
            <a:r>
              <a:rPr lang="en-US" dirty="0"/>
              <a:t> 14 female, 24 male</a:t>
            </a:r>
          </a:p>
          <a:p>
            <a:r>
              <a:rPr lang="en-US" dirty="0"/>
              <a:t> Age: 21 - 36 years (mean: 27.2)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EEG Recording</a:t>
            </a:r>
          </a:p>
          <a:p>
            <a:r>
              <a:rPr lang="en-US" dirty="0"/>
              <a:t> Conducted in SimTech building with usual hardware</a:t>
            </a:r>
          </a:p>
          <a:p>
            <a:r>
              <a:rPr lang="en-US" dirty="0"/>
              <a:t> </a:t>
            </a:r>
            <a:r>
              <a:rPr lang="de-DE" dirty="0"/>
              <a:t>Cap </a:t>
            </a:r>
            <a:r>
              <a:rPr lang="de-DE" dirty="0" err="1"/>
              <a:t>placed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10/5 </a:t>
            </a:r>
            <a:r>
              <a:rPr lang="de-DE" dirty="0" err="1"/>
              <a:t>system</a:t>
            </a:r>
            <a:r>
              <a:rPr lang="de-DE" dirty="0"/>
              <a:t> (60 </a:t>
            </a:r>
            <a:r>
              <a:rPr lang="de-DE" dirty="0" err="1"/>
              <a:t>scalp</a:t>
            </a:r>
            <a:r>
              <a:rPr lang="de-DE" dirty="0"/>
              <a:t> </a:t>
            </a:r>
            <a:r>
              <a:rPr lang="de-DE" dirty="0" err="1"/>
              <a:t>electrodes</a:t>
            </a:r>
            <a:r>
              <a:rPr lang="de-DE" dirty="0"/>
              <a:t> </a:t>
            </a:r>
            <a:r>
              <a:rPr lang="de-DE" dirty="0" err="1"/>
              <a:t>recorded</a:t>
            </a:r>
            <a:r>
              <a:rPr lang="de-DE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32" name="Picture 8" descr="Free Users SVG, PNG Icon, Symbol. Download Image.">
            <a:extLst>
              <a:ext uri="{FF2B5EF4-FFF2-40B4-BE49-F238E27FC236}">
                <a16:creationId xmlns:a16="http://schemas.microsoft.com/office/drawing/2014/main" id="{1A2A133F-C7B5-E630-E27A-46E29DEDB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601" y="685799"/>
            <a:ext cx="421607" cy="42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eg - Kostenlose technologie-Icons">
            <a:extLst>
              <a:ext uri="{FF2B5EF4-FFF2-40B4-BE49-F238E27FC236}">
                <a16:creationId xmlns:a16="http://schemas.microsoft.com/office/drawing/2014/main" id="{B09D4682-CCCD-A015-5209-8BDEB80D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015" y="2984113"/>
            <a:ext cx="422248" cy="42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471BB62-54A1-8BB9-415C-D950E9393DEB}"/>
              </a:ext>
            </a:extLst>
          </p:cNvPr>
          <p:cNvGrpSpPr/>
          <p:nvPr/>
        </p:nvGrpSpPr>
        <p:grpSpPr>
          <a:xfrm>
            <a:off x="6234851" y="1107407"/>
            <a:ext cx="2520000" cy="2122927"/>
            <a:chOff x="6234851" y="1033154"/>
            <a:chExt cx="2520000" cy="2122927"/>
          </a:xfrm>
        </p:grpSpPr>
        <p:pic>
          <p:nvPicPr>
            <p:cNvPr id="5" name="Grafik 4" descr="Ein Bild, das Text, Entwurf, Diagramm, Kreis enthält.&#10;&#10;KI-generierte Inhalte können fehlerhaft sein.">
              <a:extLst>
                <a:ext uri="{FF2B5EF4-FFF2-40B4-BE49-F238E27FC236}">
                  <a16:creationId xmlns:a16="http://schemas.microsoft.com/office/drawing/2014/main" id="{BF50EA55-2A02-EB44-FF75-AE5B96D21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75" t="21529" r="32493" b="27867"/>
            <a:stretch>
              <a:fillRect/>
            </a:stretch>
          </p:blipFill>
          <p:spPr>
            <a:xfrm>
              <a:off x="6234851" y="1033154"/>
              <a:ext cx="2520000" cy="1999817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4E6EF52-4890-4405-DC5C-9FDFAFAA8F6B}"/>
                </a:ext>
              </a:extLst>
            </p:cNvPr>
            <p:cNvSpPr txBox="1"/>
            <p:nvPr/>
          </p:nvSpPr>
          <p:spPr>
            <a:xfrm>
              <a:off x="6470262" y="2909860"/>
              <a:ext cx="20491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 err="1">
                  <a:latin typeface="Helvetica Light" panose="020B0403020202020204" pitchFamily="34" charset="0"/>
                </a:rPr>
                <a:t>Topoplot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of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recorded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electrodes</a:t>
              </a:r>
              <a:endParaRPr lang="de-DE" sz="1000" dirty="0">
                <a:latin typeface="Helvetica Light" panose="020B04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82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0E8CBB-81D4-EA22-940A-3A2725EB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96C6-1D88-867C-4EE7-958546C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DDE5B-068A-CC7D-AB3D-DE54448CD1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9B4319-A076-C485-4169-642B1603E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EEG Recording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Study was conducted in lab at SimTech building</a:t>
            </a:r>
          </a:p>
          <a:p>
            <a:r>
              <a:rPr lang="en-US" dirty="0">
                <a:solidFill>
                  <a:srgbClr val="FF0000"/>
                </a:solidFill>
              </a:rPr>
              <a:t> Manufacturer: ANT Neuro (Netherlands)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eego</a:t>
            </a:r>
            <a:r>
              <a:rPr lang="en-US" baseline="30000" dirty="0" err="1">
                <a:solidFill>
                  <a:srgbClr val="FF0000"/>
                </a:solidFill>
              </a:rPr>
              <a:t>TM</a:t>
            </a:r>
            <a:r>
              <a:rPr lang="en-US" dirty="0">
                <a:solidFill>
                  <a:srgbClr val="FF0000"/>
                </a:solidFill>
              </a:rPr>
              <a:t> sports amplifier (EE-225)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waveguardTM</a:t>
            </a:r>
            <a:r>
              <a:rPr lang="de-DE" dirty="0">
                <a:solidFill>
                  <a:srgbClr val="FF0000"/>
                </a:solidFill>
              </a:rPr>
              <a:t> original </a:t>
            </a:r>
            <a:r>
              <a:rPr lang="de-DE" dirty="0" err="1">
                <a:solidFill>
                  <a:srgbClr val="FF0000"/>
                </a:solidFill>
              </a:rPr>
              <a:t>cap</a:t>
            </a:r>
            <a:r>
              <a:rPr lang="de-DE" dirty="0">
                <a:solidFill>
                  <a:srgbClr val="FF0000"/>
                </a:solidFill>
              </a:rPr>
              <a:t> (CA-203.s1)</a:t>
            </a:r>
          </a:p>
          <a:p>
            <a:r>
              <a:rPr lang="de-DE" dirty="0">
                <a:solidFill>
                  <a:srgbClr val="FF0000"/>
                </a:solidFill>
              </a:rPr>
              <a:t> Cap </a:t>
            </a:r>
            <a:r>
              <a:rPr lang="de-DE" dirty="0" err="1">
                <a:solidFill>
                  <a:srgbClr val="FF0000"/>
                </a:solidFill>
              </a:rPr>
              <a:t>placed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according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to</a:t>
            </a:r>
            <a:r>
              <a:rPr lang="de-DE" dirty="0">
                <a:solidFill>
                  <a:srgbClr val="FF0000"/>
                </a:solidFill>
              </a:rPr>
              <a:t> 10/5 </a:t>
            </a:r>
            <a:r>
              <a:rPr lang="de-DE" dirty="0" err="1">
                <a:solidFill>
                  <a:srgbClr val="FF0000"/>
                </a:solidFill>
              </a:rPr>
              <a:t>system</a:t>
            </a:r>
            <a:r>
              <a:rPr lang="de-DE" dirty="0">
                <a:solidFill>
                  <a:srgbClr val="FF0000"/>
                </a:solidFill>
              </a:rPr>
              <a:t> (60 Ag/</a:t>
            </a:r>
            <a:r>
              <a:rPr lang="de-DE" dirty="0" err="1">
                <a:solidFill>
                  <a:srgbClr val="FF0000"/>
                </a:solidFill>
              </a:rPr>
              <a:t>AgCl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scalp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electrodes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recorded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94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E2508B-326C-539D-A23B-183F190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2F64-6004-0DA2-8151-EF48AA97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A3E34-A372-455B-61C4-A83B9B2B6A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6E2F83-297F-8CFC-629A-615F1BA6D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Task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sz="2000" dirty="0"/>
              <a:t> Consisted of </a:t>
            </a:r>
            <a:r>
              <a:rPr lang="en-US" sz="2000" dirty="0">
                <a:solidFill>
                  <a:srgbClr val="FF0000"/>
                </a:solidFill>
              </a:rPr>
              <a:t>6</a:t>
            </a:r>
            <a:r>
              <a:rPr lang="en-US" sz="2000" dirty="0"/>
              <a:t> blocks, of 20 images each</a:t>
            </a:r>
          </a:p>
          <a:p>
            <a:r>
              <a:rPr lang="en-US" sz="2000" dirty="0"/>
              <a:t> Images of faces were presented in rapid succession</a:t>
            </a:r>
          </a:p>
          <a:p>
            <a:r>
              <a:rPr lang="en-US" sz="2000" dirty="0"/>
              <a:t> Duration between 100 – 1500ms sampled from log-uniform distribution</a:t>
            </a:r>
          </a:p>
          <a:p>
            <a:r>
              <a:rPr lang="en-US" sz="2000" dirty="0"/>
              <a:t> Blocks had blank (black-fixation cross) between faces (duration: 800ms – 2500ms) (equally distributed)</a:t>
            </a:r>
          </a:p>
          <a:p>
            <a:r>
              <a:rPr lang="en-US" sz="2000" dirty="0"/>
              <a:t> During image series a distractor (red dot) randomly popped up (fixed duration 100ms, 10% prob. For each </a:t>
            </a:r>
            <a:r>
              <a:rPr lang="en-US" sz="2000" dirty="0" err="1"/>
              <a:t>stimOnset</a:t>
            </a:r>
            <a:r>
              <a:rPr lang="en-US" sz="2000" dirty="0"/>
              <a:t>, min. 4s pause between)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	 	subjects had to react with space-button press</a:t>
            </a:r>
          </a:p>
        </p:txBody>
      </p:sp>
      <p:pic>
        <p:nvPicPr>
          <p:cNvPr id="5122" name="Picture 2" descr="Screen, monitor and magnifying glass icon. Monitoring icon. Creative Monitoring  icon for web design, templates, infographics and more. 28209488 Vector Art  at Vecteezy">
            <a:extLst>
              <a:ext uri="{FF2B5EF4-FFF2-40B4-BE49-F238E27FC236}">
                <a16:creationId xmlns:a16="http://schemas.microsoft.com/office/drawing/2014/main" id="{DF68154F-5251-5538-6C9A-DB1D49EAD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111" y="1056905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31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A077B-2C50-4380-8F01-CE4C6615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39BBA9-E961-31D8-A6EE-5975FBDB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Scientific Goal: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face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brain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Methodological</a:t>
            </a:r>
            <a:r>
              <a:rPr lang="de-DE" b="1" dirty="0"/>
              <a:t> Goals:</a:t>
            </a:r>
            <a:r>
              <a:rPr lang="de-DE" dirty="0"/>
              <a:t> </a:t>
            </a:r>
          </a:p>
          <a:p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deconvolution-based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modelling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linear and non-linear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effects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blanks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stimuli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882AB7-5B1D-A35E-1CF7-803789DCC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25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4F62F-BB06-A28B-B065-46E0ADA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D5B260-5D01-89E3-86D4-C8BCC2798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Downsample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250Hz (</a:t>
            </a:r>
            <a:r>
              <a:rPr lang="de-DE" dirty="0" err="1"/>
              <a:t>initially</a:t>
            </a:r>
            <a:r>
              <a:rPr lang="de-DE" dirty="0"/>
              <a:t> 1000Hz </a:t>
            </a:r>
            <a:r>
              <a:rPr lang="de-DE" dirty="0" err="1"/>
              <a:t>recording</a:t>
            </a:r>
            <a:r>
              <a:rPr lang="de-D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50Hz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noise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Rereferencing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large </a:t>
            </a:r>
            <a:r>
              <a:rPr lang="de-DE" dirty="0" err="1"/>
              <a:t>spikes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Independent </a:t>
            </a:r>
            <a:r>
              <a:rPr lang="de-DE" dirty="0" err="1"/>
              <a:t>Component</a:t>
            </a:r>
            <a:r>
              <a:rPr lang="de-DE" dirty="0"/>
              <a:t> Analysis (ICA)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ASR </a:t>
            </a:r>
            <a:r>
              <a:rPr lang="de-DE" dirty="0" err="1"/>
              <a:t>rejection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Interpolate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0.1Hz </a:t>
            </a:r>
            <a:r>
              <a:rPr lang="de-DE" dirty="0" err="1"/>
              <a:t>Highpass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41E556-BBA2-D28D-28ED-83506CA0D9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146" name="Picture 2" descr="Matlab logo transparent PNG - StickPNG">
            <a:extLst>
              <a:ext uri="{FF2B5EF4-FFF2-40B4-BE49-F238E27FC236}">
                <a16:creationId xmlns:a16="http://schemas.microsoft.com/office/drawing/2014/main" id="{B8E76DC3-BB0A-D4AA-F77F-5D99E16D7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957" y="778328"/>
            <a:ext cx="16637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75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BF24-ABE4-C37D-B384-D9A77B6C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99016-E578-6BF9-9CA8-BB9EC6F0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r>
              <a:rPr lang="de-DE" dirty="0"/>
              <a:t> Pipeline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87C9C5-F56B-C225-6FDE-A65DF087C3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146" name="Picture 2" descr="Matlab logo transparent PNG - StickPNG">
            <a:extLst>
              <a:ext uri="{FF2B5EF4-FFF2-40B4-BE49-F238E27FC236}">
                <a16:creationId xmlns:a16="http://schemas.microsoft.com/office/drawing/2014/main" id="{AF5AC6AA-460A-F475-23E4-FC515068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60" y="634575"/>
            <a:ext cx="16637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00DBAFB-5584-A403-0E7A-D71A21EE3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773" y="634575"/>
            <a:ext cx="2482454" cy="4445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4CA45B6-CE0F-0D40-FF0F-F653E97B968D}"/>
              </a:ext>
            </a:extLst>
          </p:cNvPr>
          <p:cNvSpPr txBox="1"/>
          <p:nvPr/>
        </p:nvSpPr>
        <p:spPr>
          <a:xfrm>
            <a:off x="7593462" y="1888375"/>
            <a:ext cx="947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de-DE" sz="1600" b="1" i="0" dirty="0">
                <a:solidFill>
                  <a:srgbClr val="5A5A5A"/>
                </a:solidFill>
                <a:effectLst/>
                <a:latin typeface="Roboto" panose="02000000000000000000" pitchFamily="2" charset="0"/>
              </a:rPr>
              <a:t>EEGLAB</a:t>
            </a:r>
          </a:p>
        </p:txBody>
      </p:sp>
    </p:spTree>
    <p:extLst>
      <p:ext uri="{BB962C8B-B14F-4D97-AF65-F5344CB8AC3E}">
        <p14:creationId xmlns:p14="http://schemas.microsoft.com/office/powerpoint/2010/main" val="3712602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B188-A51F-1FBE-959D-BF13DEA2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4B89E-B0E1-3908-A2A0-3E3C01D7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53DA8-1049-8388-8250-C384AB6602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4C210A6-9AFB-603D-167A-14D7EACA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" r="25090"/>
          <a:stretch>
            <a:fillRect/>
          </a:stretch>
        </p:blipFill>
        <p:spPr>
          <a:xfrm>
            <a:off x="389152" y="1676381"/>
            <a:ext cx="3867165" cy="2915558"/>
          </a:xfrm>
          <a:prstGeom prst="rect">
            <a:avLst/>
          </a:prstGeom>
        </p:spPr>
      </p:pic>
      <p:pic>
        <p:nvPicPr>
          <p:cNvPr id="16" name="Grafik 1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268E9C0-AF30-5A8E-DB0E-509E988CF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9" r="25292"/>
          <a:stretch>
            <a:fillRect/>
          </a:stretch>
        </p:blipFill>
        <p:spPr>
          <a:xfrm>
            <a:off x="4572000" y="1676381"/>
            <a:ext cx="3867167" cy="291556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41A598A-ECF4-9582-48AA-2E1371A0E6F7}"/>
              </a:ext>
            </a:extLst>
          </p:cNvPr>
          <p:cNvSpPr txBox="1"/>
          <p:nvPr/>
        </p:nvSpPr>
        <p:spPr>
          <a:xfrm>
            <a:off x="389149" y="4474126"/>
            <a:ext cx="24302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Helvetica Light" panose="020B0403020202020204" pitchFamily="34" charset="0"/>
              </a:rPr>
              <a:t>Subject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with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noisy</a:t>
            </a:r>
            <a:r>
              <a:rPr lang="de-DE" sz="900" dirty="0">
                <a:latin typeface="Helvetica Light" panose="020B0403020202020204" pitchFamily="34" charset="0"/>
              </a:rPr>
              <a:t> EEG </a:t>
            </a:r>
            <a:r>
              <a:rPr lang="de-DE" sz="900" dirty="0" err="1">
                <a:latin typeface="Helvetica Light" panose="020B0403020202020204" pitchFamily="34" charset="0"/>
              </a:rPr>
              <a:t>data</a:t>
            </a:r>
            <a:endParaRPr lang="de-DE" sz="900" dirty="0">
              <a:latin typeface="Helvetica Light" panose="020B0403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15FF24B-5758-A2E8-1597-66BF59E248CB}"/>
              </a:ext>
            </a:extLst>
          </p:cNvPr>
          <p:cNvSpPr txBox="1"/>
          <p:nvPr/>
        </p:nvSpPr>
        <p:spPr>
          <a:xfrm>
            <a:off x="4635920" y="4474126"/>
            <a:ext cx="26269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Helvetica Light" panose="020B0403020202020204" pitchFamily="34" charset="0"/>
              </a:rPr>
              <a:t>Subject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with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tiny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alpha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peak</a:t>
            </a:r>
            <a:r>
              <a:rPr lang="de-DE" sz="900" dirty="0">
                <a:latin typeface="Helvetica Light" panose="020B0403020202020204" pitchFamily="34" charset="0"/>
              </a:rPr>
              <a:t> and </a:t>
            </a:r>
            <a:r>
              <a:rPr lang="de-DE" sz="900" dirty="0" err="1">
                <a:latin typeface="Helvetica Light" panose="020B0403020202020204" pitchFamily="34" charset="0"/>
              </a:rPr>
              <a:t>small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spikes</a:t>
            </a:r>
            <a:endParaRPr lang="de-DE" sz="900" dirty="0">
              <a:latin typeface="Helvetica Light" panose="020B0403020202020204" pitchFamily="34" charset="0"/>
            </a:endParaRPr>
          </a:p>
        </p:txBody>
      </p:sp>
      <p:pic>
        <p:nvPicPr>
          <p:cNvPr id="20" name="Grafik 1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594EEE9-E300-FC04-7C50-4CE27F660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4" b="77596"/>
          <a:stretch>
            <a:fillRect/>
          </a:stretch>
        </p:blipFill>
        <p:spPr>
          <a:xfrm>
            <a:off x="2631303" y="409457"/>
            <a:ext cx="3756265" cy="8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3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615A-AB23-2CBB-21CC-85B6477E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E1BDE-7DDC-AA8F-1215-7ADCB418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D4493-38EE-2E3B-1E6C-6F13CBA6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sz="1600" b="1" dirty="0"/>
          </a:p>
          <a:p>
            <a:pPr marL="0" indent="0">
              <a:buNone/>
            </a:pPr>
            <a:endParaRPr lang="de-DE" sz="800" dirty="0"/>
          </a:p>
          <a:p>
            <a:pPr marL="0" indent="0">
              <a:buNone/>
            </a:pPr>
            <a:r>
              <a:rPr lang="de-DE" b="1" dirty="0" err="1"/>
              <a:t>Criteria</a:t>
            </a:r>
            <a:r>
              <a:rPr lang="de-DE" b="1" dirty="0"/>
              <a:t>: </a:t>
            </a:r>
            <a:r>
              <a:rPr lang="de-DE" dirty="0" err="1"/>
              <a:t>Flatline</a:t>
            </a:r>
            <a:r>
              <a:rPr lang="de-DE" dirty="0"/>
              <a:t> &gt;5s, </a:t>
            </a:r>
            <a:r>
              <a:rPr lang="de-DE" dirty="0" err="1"/>
              <a:t>correlation</a:t>
            </a:r>
            <a:r>
              <a:rPr lang="de-DE" dirty="0"/>
              <a:t> &lt;0.8 </a:t>
            </a:r>
            <a:r>
              <a:rPr lang="de-DE" dirty="0" err="1"/>
              <a:t>to</a:t>
            </a:r>
            <a:r>
              <a:rPr lang="de-DE" dirty="0"/>
              <a:t> robust </a:t>
            </a:r>
            <a:r>
              <a:rPr lang="de-DE" dirty="0" err="1"/>
              <a:t>reference</a:t>
            </a:r>
            <a:r>
              <a:rPr lang="de-DE" dirty="0"/>
              <a:t>, Line </a:t>
            </a:r>
            <a:r>
              <a:rPr lang="de-DE" dirty="0" err="1"/>
              <a:t>noise</a:t>
            </a:r>
            <a:r>
              <a:rPr lang="de-DE" dirty="0"/>
              <a:t> (&gt;4 </a:t>
            </a:r>
            <a:r>
              <a:rPr lang="de-DE" dirty="0" err="1"/>
              <a:t>std</a:t>
            </a:r>
            <a:r>
              <a:rPr lang="de-DE" dirty="0"/>
              <a:t>)</a:t>
            </a:r>
          </a:p>
          <a:p>
            <a:r>
              <a:rPr lang="de-DE" dirty="0"/>
              <a:t> </a:t>
            </a:r>
            <a:r>
              <a:rPr lang="de-DE" dirty="0" err="1"/>
              <a:t>Removed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per </a:t>
            </a:r>
            <a:r>
              <a:rPr lang="de-DE" dirty="0" err="1"/>
              <a:t>subject</a:t>
            </a:r>
            <a:r>
              <a:rPr lang="de-DE" dirty="0"/>
              <a:t> on </a:t>
            </a:r>
            <a:r>
              <a:rPr lang="de-DE" dirty="0" err="1"/>
              <a:t>average</a:t>
            </a:r>
            <a:r>
              <a:rPr lang="de-DE" dirty="0"/>
              <a:t>: </a:t>
            </a:r>
            <a:r>
              <a:rPr lang="de-DE" b="1" dirty="0"/>
              <a:t>3.03 ± 1.96 </a:t>
            </a:r>
            <a:r>
              <a:rPr lang="de-DE" b="1" dirty="0" err="1"/>
              <a:t>std</a:t>
            </a:r>
            <a:endParaRPr lang="de-DE" b="1" dirty="0"/>
          </a:p>
          <a:p>
            <a:r>
              <a:rPr lang="de-DE" dirty="0"/>
              <a:t> 7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interest</a:t>
            </a:r>
            <a:r>
              <a:rPr lang="de-DE" dirty="0"/>
              <a:t> (</a:t>
            </a:r>
            <a:r>
              <a:rPr lang="de-DE" dirty="0" err="1"/>
              <a:t>visual</a:t>
            </a:r>
            <a:r>
              <a:rPr lang="de-DE" dirty="0"/>
              <a:t> </a:t>
            </a:r>
            <a:r>
              <a:rPr lang="de-DE" dirty="0" err="1"/>
              <a:t>cortex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) </a:t>
            </a:r>
            <a:r>
              <a:rPr lang="de-DE" dirty="0" err="1"/>
              <a:t>missing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93A7E8-C652-0BAE-BDBB-338C00940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C4C0EE-EE48-921F-FF24-22621D2E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67" y="2878389"/>
            <a:ext cx="4893936" cy="2427154"/>
          </a:xfrm>
          <a:prstGeom prst="rect">
            <a:avLst/>
          </a:prstGeom>
        </p:spPr>
      </p:pic>
      <p:pic>
        <p:nvPicPr>
          <p:cNvPr id="7" name="Grafik 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432E4F52-C0E8-0DC4-FA64-9C160EB19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 t="19753" r="-174" b="67887"/>
          <a:stretch>
            <a:fillRect/>
          </a:stretch>
        </p:blipFill>
        <p:spPr>
          <a:xfrm>
            <a:off x="2631303" y="409457"/>
            <a:ext cx="3756265" cy="8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5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267E-E811-7D7A-A952-F746339F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51B25-1F8B-91A7-727C-FBEF1099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DD363-8653-0A35-023B-6F94C4C1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dirty="0"/>
          </a:p>
          <a:p>
            <a:endParaRPr lang="de-DE" sz="1600" dirty="0"/>
          </a:p>
          <a:p>
            <a:pPr marL="0" indent="0">
              <a:buNone/>
            </a:pPr>
            <a:endParaRPr lang="de-DE" sz="1200" dirty="0"/>
          </a:p>
          <a:p>
            <a:r>
              <a:rPr lang="de-DE" dirty="0"/>
              <a:t> </a:t>
            </a:r>
            <a:r>
              <a:rPr lang="de-DE" dirty="0" err="1"/>
              <a:t>ICLabel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labelling</a:t>
            </a:r>
            <a:endParaRPr lang="de-DE" dirty="0"/>
          </a:p>
          <a:p>
            <a:r>
              <a:rPr lang="de-DE" dirty="0"/>
              <a:t> Confidence </a:t>
            </a:r>
            <a:r>
              <a:rPr lang="de-DE" dirty="0" err="1"/>
              <a:t>threshold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removal</a:t>
            </a:r>
            <a:r>
              <a:rPr lang="de-DE" dirty="0"/>
              <a:t> &gt;80% </a:t>
            </a:r>
            <a:r>
              <a:rPr lang="de-DE" dirty="0" err="1"/>
              <a:t>for</a:t>
            </a:r>
            <a:r>
              <a:rPr lang="de-DE" dirty="0"/>
              <a:t> non-</a:t>
            </a:r>
            <a:r>
              <a:rPr lang="de-DE" dirty="0" err="1"/>
              <a:t>brain</a:t>
            </a:r>
            <a:r>
              <a:rPr lang="de-DE" dirty="0"/>
              <a:t> </a:t>
            </a:r>
            <a:r>
              <a:rPr lang="de-DE" dirty="0" err="1"/>
              <a:t>components</a:t>
            </a:r>
            <a:endParaRPr lang="de-DE" dirty="0"/>
          </a:p>
          <a:p>
            <a:r>
              <a:rPr lang="de-DE" dirty="0"/>
              <a:t> Components </a:t>
            </a:r>
            <a:r>
              <a:rPr lang="de-DE" dirty="0" err="1"/>
              <a:t>removed</a:t>
            </a:r>
            <a:r>
              <a:rPr lang="de-DE" dirty="0"/>
              <a:t> on </a:t>
            </a:r>
            <a:r>
              <a:rPr lang="de-DE" dirty="0" err="1"/>
              <a:t>average</a:t>
            </a:r>
            <a:r>
              <a:rPr lang="de-DE" dirty="0"/>
              <a:t>: </a:t>
            </a:r>
            <a:r>
              <a:rPr lang="de-DE" b="1" dirty="0"/>
              <a:t>18.55 ± 5.10 </a:t>
            </a:r>
            <a:r>
              <a:rPr lang="de-DE" b="1" dirty="0" err="1"/>
              <a:t>std</a:t>
            </a:r>
            <a:endParaRPr lang="de-DE" b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E47A6D-390A-6111-AB40-B342DDDF4F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267DE15-2EA7-5BFD-56BB-F77855B59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49070" r="-2343" b="29832"/>
          <a:stretch>
            <a:fillRect/>
          </a:stretch>
        </p:blipFill>
        <p:spPr>
          <a:xfrm>
            <a:off x="2631303" y="409456"/>
            <a:ext cx="3756265" cy="1419343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5E38285-66D0-2735-1383-18B42EE82532}"/>
              </a:ext>
            </a:extLst>
          </p:cNvPr>
          <p:cNvGrpSpPr/>
          <p:nvPr/>
        </p:nvGrpSpPr>
        <p:grpSpPr>
          <a:xfrm>
            <a:off x="361751" y="3417256"/>
            <a:ext cx="8295368" cy="1440000"/>
            <a:chOff x="281158" y="3462525"/>
            <a:chExt cx="8295368" cy="1440000"/>
          </a:xfrm>
        </p:grpSpPr>
        <p:pic>
          <p:nvPicPr>
            <p:cNvPr id="7" name="Grafik 6" descr="Ein Bild, das Text, Diagramm, Screenshot, Reihe enthält.&#10;&#10;KI-generierte Inhalte können fehlerhaft sein.">
              <a:extLst>
                <a:ext uri="{FF2B5EF4-FFF2-40B4-BE49-F238E27FC236}">
                  <a16:creationId xmlns:a16="http://schemas.microsoft.com/office/drawing/2014/main" id="{E117BEE8-7362-577C-9E43-02342FA7C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" r="62609" b="54528"/>
            <a:stretch>
              <a:fillRect/>
            </a:stretch>
          </p:blipFill>
          <p:spPr>
            <a:xfrm>
              <a:off x="281158" y="3462525"/>
              <a:ext cx="1971296" cy="1440000"/>
            </a:xfrm>
            <a:prstGeom prst="rect">
              <a:avLst/>
            </a:prstGeom>
          </p:spPr>
        </p:pic>
        <p:pic>
          <p:nvPicPr>
            <p:cNvPr id="10" name="Grafik 9" descr="Ein Bild, das Text, Screenshot, Diagramm, Reihe enthält.&#10;&#10;KI-generierte Inhalte können fehlerhaft sein.">
              <a:extLst>
                <a:ext uri="{FF2B5EF4-FFF2-40B4-BE49-F238E27FC236}">
                  <a16:creationId xmlns:a16="http://schemas.microsoft.com/office/drawing/2014/main" id="{5747C5E0-2831-1271-9701-117603DCE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2" r="62842" b="55546"/>
            <a:stretch>
              <a:fillRect/>
            </a:stretch>
          </p:blipFill>
          <p:spPr>
            <a:xfrm>
              <a:off x="2360445" y="3462525"/>
              <a:ext cx="1971537" cy="1440000"/>
            </a:xfrm>
            <a:prstGeom prst="rect">
              <a:avLst/>
            </a:prstGeom>
          </p:spPr>
        </p:pic>
        <p:pic>
          <p:nvPicPr>
            <p:cNvPr id="12" name="Grafik 11" descr="Ein Bild, das Text, Reihe, Diagramm, Schrift enthält.&#10;&#10;KI-generierte Inhalte können fehlerhaft sein.">
              <a:extLst>
                <a:ext uri="{FF2B5EF4-FFF2-40B4-BE49-F238E27FC236}">
                  <a16:creationId xmlns:a16="http://schemas.microsoft.com/office/drawing/2014/main" id="{A44153C8-6AB0-3119-43E6-331257C11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2" t="-102" r="62959" b="55749"/>
            <a:stretch>
              <a:fillRect/>
            </a:stretch>
          </p:blipFill>
          <p:spPr>
            <a:xfrm>
              <a:off x="4439973" y="3462525"/>
              <a:ext cx="1969431" cy="1440000"/>
            </a:xfrm>
            <a:prstGeom prst="rect">
              <a:avLst/>
            </a:prstGeom>
          </p:spPr>
        </p:pic>
        <p:pic>
          <p:nvPicPr>
            <p:cNvPr id="14" name="Grafik 13" descr="Ein Bild, das Text, Diagramm, Reihe, Schrift enthält.&#10;&#10;KI-generierte Inhalte können fehlerhaft sein.">
              <a:extLst>
                <a:ext uri="{FF2B5EF4-FFF2-40B4-BE49-F238E27FC236}">
                  <a16:creationId xmlns:a16="http://schemas.microsoft.com/office/drawing/2014/main" id="{B0D37F32-5341-1DBE-D00C-4F162B30C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2" r="62842" b="57437"/>
            <a:stretch>
              <a:fillRect/>
            </a:stretch>
          </p:blipFill>
          <p:spPr>
            <a:xfrm>
              <a:off x="6517395" y="3462525"/>
              <a:ext cx="2059131" cy="1440000"/>
            </a:xfrm>
            <a:prstGeom prst="rect">
              <a:avLst/>
            </a:prstGeom>
          </p:spPr>
        </p:pic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A8A36A80-23E9-80B9-3C78-3E3D61FCE390}"/>
              </a:ext>
            </a:extLst>
          </p:cNvPr>
          <p:cNvSpPr txBox="1"/>
          <p:nvPr/>
        </p:nvSpPr>
        <p:spPr>
          <a:xfrm>
            <a:off x="389149" y="4857256"/>
            <a:ext cx="3005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latin typeface="Helvetica Light" panose="020B0403020202020204" pitchFamily="34" charset="0"/>
              </a:rPr>
              <a:t>First 4 ICA </a:t>
            </a:r>
            <a:r>
              <a:rPr lang="de-DE" sz="1000" dirty="0" err="1">
                <a:latin typeface="Helvetica Light" panose="020B0403020202020204" pitchFamily="34" charset="0"/>
              </a:rPr>
              <a:t>components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of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subject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with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noisy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data</a:t>
            </a:r>
            <a:endParaRPr lang="de-DE" sz="1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39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D09D8-BAF9-8E15-A7FA-DCC6F726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B7A44D-1D3D-DCA6-4360-82E0FD4E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 Analyze </a:t>
            </a:r>
            <a:r>
              <a:rPr lang="de-DE" b="1" dirty="0"/>
              <a:t>Event-</a:t>
            </a:r>
            <a:r>
              <a:rPr lang="de-DE" b="1" dirty="0" err="1"/>
              <a:t>related</a:t>
            </a:r>
            <a:r>
              <a:rPr lang="de-DE" b="1" dirty="0"/>
              <a:t> </a:t>
            </a:r>
            <a:r>
              <a:rPr lang="de-DE" b="1" dirty="0" err="1"/>
              <a:t>potentials</a:t>
            </a:r>
            <a:r>
              <a:rPr lang="de-DE" b="1" dirty="0"/>
              <a:t> (ERP)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face</a:t>
            </a:r>
            <a:r>
              <a:rPr lang="de-DE" dirty="0"/>
              <a:t> </a:t>
            </a:r>
            <a:r>
              <a:rPr lang="de-DE" dirty="0" err="1"/>
              <a:t>stimuli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Conducted</a:t>
            </a:r>
            <a:r>
              <a:rPr lang="de-DE" dirty="0"/>
              <a:t> in Pluto </a:t>
            </a:r>
            <a:r>
              <a:rPr lang="de-DE" dirty="0" err="1"/>
              <a:t>notebook</a:t>
            </a:r>
            <a:r>
              <a:rPr lang="de-DE" dirty="0"/>
              <a:t>, </a:t>
            </a:r>
            <a:r>
              <a:rPr lang="de-DE" dirty="0" err="1"/>
              <a:t>julia</a:t>
            </a:r>
            <a:r>
              <a:rPr lang="de-DE" dirty="0"/>
              <a:t> </a:t>
            </a:r>
            <a:r>
              <a:rPr lang="de-DE" dirty="0" err="1"/>
              <a:t>language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Unfold.jl</a:t>
            </a:r>
            <a:r>
              <a:rPr lang="de-DE" dirty="0"/>
              <a:t> </a:t>
            </a:r>
            <a:r>
              <a:rPr lang="de-DE" dirty="0" err="1"/>
              <a:t>toolbox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ERP (</a:t>
            </a:r>
            <a:r>
              <a:rPr lang="de-DE" dirty="0" err="1"/>
              <a:t>rERP</a:t>
            </a:r>
            <a:r>
              <a:rPr lang="de-DE" dirty="0"/>
              <a:t>) </a:t>
            </a:r>
            <a:r>
              <a:rPr lang="de-DE" dirty="0" err="1"/>
              <a:t>framework</a:t>
            </a:r>
            <a:r>
              <a:rPr lang="de-DE" dirty="0"/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5AC285-BE7B-9A7C-37B9-9E3EA3945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11E402F-1A40-6BB3-A38B-0E949A2A0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87" y="810985"/>
            <a:ext cx="1024467" cy="65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13637EA-C184-FFE3-60D7-30F64C611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978" y="1570423"/>
            <a:ext cx="1021576" cy="250371"/>
          </a:xfrm>
          <a:prstGeom prst="rect">
            <a:avLst/>
          </a:prstGeom>
        </p:spPr>
      </p:pic>
      <p:pic>
        <p:nvPicPr>
          <p:cNvPr id="10" name="Picture 2" descr="Unfold 1.2 - EEG Deconvolution Toolbox — Unfold EEG Toolbox">
            <a:extLst>
              <a:ext uri="{FF2B5EF4-FFF2-40B4-BE49-F238E27FC236}">
                <a16:creationId xmlns:a16="http://schemas.microsoft.com/office/drawing/2014/main" id="{A2BF2D98-64CA-F692-713F-F04767F2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87" y="1921646"/>
            <a:ext cx="1021576" cy="48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2D9333E-4FCA-30E5-CDA4-EC7F07FEE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55" y="2866361"/>
            <a:ext cx="6474129" cy="187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7EB805-F803-9E85-A923-549B5E56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F99BD-49EE-A0D8-E88C-3794650C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0D45C5-5506-49E9-6CD4-988ECA8C8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Data </a:t>
            </a:r>
            <a:r>
              <a:rPr lang="de-DE" b="1" dirty="0" err="1"/>
              <a:t>Transformations</a:t>
            </a:r>
            <a:endParaRPr lang="de-DE" b="1" dirty="0"/>
          </a:p>
          <a:p>
            <a:r>
              <a:rPr lang="de-DE" dirty="0"/>
              <a:t> </a:t>
            </a:r>
            <a:r>
              <a:rPr lang="de-DE" dirty="0" err="1"/>
              <a:t>Indicator</a:t>
            </a:r>
            <a:r>
              <a:rPr lang="de-DE" dirty="0"/>
              <a:t> </a:t>
            </a:r>
            <a:r>
              <a:rPr lang="de-DE" dirty="0" err="1"/>
              <a:t>wether</a:t>
            </a:r>
            <a:r>
              <a:rPr lang="de-DE" dirty="0"/>
              <a:t> a blank was </a:t>
            </a:r>
            <a:r>
              <a:rPr lang="de-DE" dirty="0" err="1"/>
              <a:t>present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not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captured</a:t>
            </a:r>
            <a:r>
              <a:rPr lang="de-DE" dirty="0"/>
              <a:t> in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Create ‘blank‘ </a:t>
            </a:r>
            <a:r>
              <a:rPr lang="de-DE" dirty="0" err="1">
                <a:sym typeface="Wingdings" pitchFamily="2" charset="2"/>
              </a:rPr>
              <a:t>column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according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‘</a:t>
            </a:r>
            <a:r>
              <a:rPr lang="de-DE" dirty="0" err="1">
                <a:sym typeface="Wingdings" pitchFamily="2" charset="2"/>
              </a:rPr>
              <a:t>value</a:t>
            </a:r>
            <a:r>
              <a:rPr lang="de-DE" dirty="0">
                <a:sym typeface="Wingdings" pitchFamily="2" charset="2"/>
              </a:rPr>
              <a:t>‘ </a:t>
            </a:r>
            <a:r>
              <a:rPr lang="de-DE" dirty="0" err="1">
                <a:sym typeface="Wingdings" pitchFamily="2" charset="2"/>
              </a:rPr>
              <a:t>column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sequences</a:t>
            </a: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 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Stimulus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duration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values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captured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in sample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count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insted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of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miliseconds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Char char="à"/>
            </a:pP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Multiply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duration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values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by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4 (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because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of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sampling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rate 250Hz)</a:t>
            </a:r>
          </a:p>
          <a:p>
            <a:pPr>
              <a:buFont typeface="Wingdings" pitchFamily="2" charset="2"/>
              <a:buChar char="à"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Add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columns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showing</a:t>
            </a:r>
            <a:r>
              <a:rPr lang="de-D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sym typeface="Wingdings" pitchFamily="2" charset="2"/>
              </a:rPr>
              <a:t>transformation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315F7B-5DF1-15FF-539E-782E0B35BF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03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C2F84-1411-9E56-C066-165471B1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5E6233-6E15-A492-068C-78172F56BD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000" b="1" dirty="0"/>
                  <a:t>Regression ERP </a:t>
                </a:r>
                <a:r>
                  <a:rPr lang="de-DE" sz="2000" b="1" dirty="0" err="1"/>
                  <a:t>framework</a:t>
                </a:r>
                <a:r>
                  <a:rPr lang="de-DE" sz="2000" b="1" dirty="0"/>
                  <a:t> (</a:t>
                </a:r>
                <a:r>
                  <a:rPr lang="de-DE" sz="2000" b="1" dirty="0" err="1"/>
                  <a:t>rERP</a:t>
                </a:r>
                <a:r>
                  <a:rPr lang="de-DE" sz="2000" b="1" dirty="0"/>
                  <a:t>)</a:t>
                </a:r>
              </a:p>
              <a:p>
                <a:r>
                  <a:rPr lang="de-DE" dirty="0"/>
                  <a:t> </a:t>
                </a:r>
                <a:r>
                  <a:rPr lang="de-DE" dirty="0" err="1"/>
                  <a:t>Usually</a:t>
                </a:r>
                <a:r>
                  <a:rPr lang="de-DE" dirty="0"/>
                  <a:t> ERPs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calculated</a:t>
                </a:r>
                <a:r>
                  <a:rPr lang="de-DE" dirty="0"/>
                  <a:t>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/>
                  <a:t>curves</a:t>
                </a:r>
                <a:r>
                  <a:rPr lang="de-DE" dirty="0"/>
                  <a:t> </a:t>
                </a:r>
                <a:r>
                  <a:rPr lang="de-DE" dirty="0" err="1"/>
                  <a:t>accross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trials</a:t>
                </a:r>
                <a:endParaRPr lang="de-DE" dirty="0"/>
              </a:p>
              <a:p>
                <a:r>
                  <a:rPr lang="de-DE" dirty="0"/>
                  <a:t> </a:t>
                </a:r>
                <a:r>
                  <a:rPr lang="de-DE" dirty="0" err="1"/>
                  <a:t>rERP</a:t>
                </a:r>
                <a:r>
                  <a:rPr lang="de-DE" dirty="0"/>
                  <a:t> </a:t>
                </a:r>
                <a:r>
                  <a:rPr lang="de-DE" dirty="0" err="1"/>
                  <a:t>allows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do </a:t>
                </a:r>
                <a:r>
                  <a:rPr lang="de-DE" dirty="0" err="1"/>
                  <a:t>the</a:t>
                </a:r>
                <a:r>
                  <a:rPr lang="de-DE" dirty="0"/>
                  <a:t> same, but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underlying</a:t>
                </a:r>
                <a:r>
                  <a:rPr lang="de-DE" dirty="0"/>
                  <a:t> </a:t>
                </a:r>
                <a:r>
                  <a:rPr lang="de-DE" dirty="0" err="1"/>
                  <a:t>regression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, </a:t>
                </a:r>
                <a:r>
                  <a:rPr lang="de-DE" dirty="0" err="1"/>
                  <a:t>capturing</a:t>
                </a:r>
                <a:r>
                  <a:rPr lang="de-DE" dirty="0"/>
                  <a:t> ERP </a:t>
                </a:r>
                <a:r>
                  <a:rPr lang="de-DE" dirty="0" err="1"/>
                  <a:t>averages</a:t>
                </a:r>
                <a:r>
                  <a:rPr lang="de-DE" dirty="0"/>
                  <a:t> in </a:t>
                </a:r>
                <a:r>
                  <a:rPr lang="de-DE" dirty="0" err="1"/>
                  <a:t>coefficients</a:t>
                </a:r>
                <a:r>
                  <a:rPr lang="de-DE" dirty="0"/>
                  <a:t> (Smith &amp; Kutas, 2015a&amp;b)</a:t>
                </a:r>
              </a:p>
              <a:p>
                <a:r>
                  <a:rPr lang="de-DE" dirty="0"/>
                  <a:t> Regression </a:t>
                </a:r>
                <a:r>
                  <a:rPr lang="de-DE" dirty="0" err="1"/>
                  <a:t>structure</a:t>
                </a:r>
                <a:r>
                  <a:rPr lang="de-DE" dirty="0"/>
                  <a:t> </a:t>
                </a:r>
                <a:r>
                  <a:rPr lang="de-DE" dirty="0" err="1"/>
                  <a:t>allows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incorporate</a:t>
                </a:r>
                <a:r>
                  <a:rPr lang="de-DE" dirty="0"/>
                  <a:t> </a:t>
                </a:r>
                <a:r>
                  <a:rPr lang="de-DE" dirty="0" err="1"/>
                  <a:t>several</a:t>
                </a:r>
                <a:r>
                  <a:rPr lang="de-DE" dirty="0"/>
                  <a:t> </a:t>
                </a:r>
                <a:r>
                  <a:rPr lang="de-DE" dirty="0" err="1"/>
                  <a:t>predictors</a:t>
                </a:r>
                <a:r>
                  <a:rPr lang="de-DE" dirty="0"/>
                  <a:t> in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Wilkinson Notation: 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𝐸𝑅𝑃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~ 1+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𝑏𝑙𝑎𝑛𝑘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𝑑𝑢𝑟𝑎𝑡𝑖𝑜𝑛</m:t>
                    </m:r>
                  </m:oMath>
                </a14:m>
                <a:endParaRPr lang="de-DE" dirty="0"/>
              </a:p>
              <a:p>
                <a:r>
                  <a:rPr lang="de-DE" dirty="0"/>
                  <a:t> </a:t>
                </a:r>
                <a:r>
                  <a:rPr lang="de-DE" dirty="0" err="1"/>
                  <a:t>Overlap</a:t>
                </a:r>
                <a:r>
                  <a:rPr lang="de-DE" dirty="0"/>
                  <a:t> </a:t>
                </a:r>
                <a:r>
                  <a:rPr lang="de-DE" dirty="0" err="1"/>
                  <a:t>correction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events</a:t>
                </a:r>
                <a:r>
                  <a:rPr lang="de-DE" dirty="0"/>
                  <a:t> possible </a:t>
                </a:r>
                <a:r>
                  <a:rPr lang="de-DE" dirty="0" err="1"/>
                  <a:t>using</a:t>
                </a:r>
                <a:r>
                  <a:rPr lang="de-DE" dirty="0"/>
                  <a:t> linear </a:t>
                </a:r>
                <a:r>
                  <a:rPr lang="de-DE" dirty="0" err="1"/>
                  <a:t>deconvolution</a:t>
                </a:r>
                <a:endParaRPr lang="de-DE" dirty="0"/>
              </a:p>
              <a:p>
                <a:r>
                  <a:rPr lang="de-DE" dirty="0"/>
                  <a:t> Analysis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predictors</a:t>
                </a:r>
                <a:r>
                  <a:rPr lang="de-DE" dirty="0"/>
                  <a:t> marginal </a:t>
                </a:r>
                <a:r>
                  <a:rPr lang="de-DE" dirty="0" err="1"/>
                  <a:t>effects</a:t>
                </a:r>
                <a:r>
                  <a:rPr lang="de-DE" dirty="0"/>
                  <a:t> possible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5E6233-6E15-A492-068C-78172F56B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D8AF83-EA0B-6364-206A-6A33AF8DCD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22A5976-4EE1-A0C1-412E-DA549083494B}"/>
              </a:ext>
            </a:extLst>
          </p:cNvPr>
          <p:cNvSpPr txBox="1"/>
          <p:nvPr/>
        </p:nvSpPr>
        <p:spPr>
          <a:xfrm>
            <a:off x="3943016" y="2960914"/>
            <a:ext cx="2373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categorical</a:t>
            </a:r>
            <a:r>
              <a:rPr lang="de-DE" sz="1200" dirty="0">
                <a:latin typeface="Helvetica Light" panose="020B0403020202020204" pitchFamily="34" charset="0"/>
              </a:rPr>
              <a:t>	</a:t>
            </a:r>
            <a:r>
              <a:rPr lang="de-DE" sz="1200" dirty="0" err="1">
                <a:latin typeface="Helvetica Light" panose="020B0403020202020204" pitchFamily="34" charset="0"/>
              </a:rPr>
              <a:t>continuous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28E92E4-4DA4-4AC3-E2C0-E24B0E42B8B0}"/>
              </a:ext>
            </a:extLst>
          </p:cNvPr>
          <p:cNvCxnSpPr>
            <a:cxnSpLocks/>
          </p:cNvCxnSpPr>
          <p:nvPr/>
        </p:nvCxnSpPr>
        <p:spPr>
          <a:xfrm>
            <a:off x="4419600" y="3237913"/>
            <a:ext cx="0" cy="223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72FC78C-6752-4748-8800-6C6F49C02346}"/>
              </a:ext>
            </a:extLst>
          </p:cNvPr>
          <p:cNvCxnSpPr>
            <a:cxnSpLocks/>
          </p:cNvCxnSpPr>
          <p:nvPr/>
        </p:nvCxnSpPr>
        <p:spPr>
          <a:xfrm flipH="1">
            <a:off x="5431971" y="3237913"/>
            <a:ext cx="163286" cy="22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3A2A-72E2-0DB2-A3F0-97C61443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AC8E0-78FA-6559-B783-6DC3312D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CDCEBB-46E6-0113-BC19-60CE7178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Non-</a:t>
            </a:r>
            <a:r>
              <a:rPr lang="de-DE" sz="2000" b="1" dirty="0" err="1"/>
              <a:t>overlap</a:t>
            </a:r>
            <a:r>
              <a:rPr lang="de-DE" sz="2000" b="1" dirty="0"/>
              <a:t> </a:t>
            </a:r>
            <a:r>
              <a:rPr lang="de-DE" sz="2000" b="1" dirty="0" err="1"/>
              <a:t>corrected</a:t>
            </a:r>
            <a:r>
              <a:rPr lang="de-DE" sz="2000" b="1" dirty="0"/>
              <a:t> </a:t>
            </a:r>
            <a:r>
              <a:rPr lang="de-DE" sz="2000" b="1" dirty="0" err="1"/>
              <a:t>models</a:t>
            </a:r>
            <a:r>
              <a:rPr lang="de-DE" sz="2000" b="1" dirty="0"/>
              <a:t> (</a:t>
            </a:r>
            <a:r>
              <a:rPr lang="de-DE" sz="2000" b="1" dirty="0" err="1"/>
              <a:t>mass</a:t>
            </a:r>
            <a:r>
              <a:rPr lang="de-DE" sz="2000" b="1" dirty="0"/>
              <a:t> univariate </a:t>
            </a:r>
            <a:r>
              <a:rPr lang="de-DE" sz="2000" b="1" dirty="0" err="1"/>
              <a:t>analysis</a:t>
            </a:r>
            <a:r>
              <a:rPr lang="de-DE" sz="2000" b="1" dirty="0"/>
              <a:t>)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Epoch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data</a:t>
            </a: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data_epochs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times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Unfold</a:t>
            </a:r>
            <a:r>
              <a:rPr lang="de-DE" sz="11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de-DE" sz="11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epoch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tbl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events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τ </a:t>
            </a:r>
            <a:r>
              <a:rPr lang="el-GR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l-GR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l-GR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l-GR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sfreq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250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Run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Unfold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without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overlap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correction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)</a:t>
            </a: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m_uv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UnfoldModel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stimOnset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(f,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times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events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data_epochs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eventcolumn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sz="2000" b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50773A-704C-8EC4-A1A8-E16300F938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8234946" cy="304168"/>
          </a:xfrm>
        </p:spPr>
        <p:txBody>
          <a:bodyPr>
            <a:noAutofit/>
          </a:bodyPr>
          <a:lstStyle/>
          <a:p>
            <a:r>
              <a:rPr lang="de-DE" sz="800" dirty="0">
                <a:latin typeface="Helvetica Light" panose="020B0403020202020204" pitchFamily="34" charset="0"/>
              </a:rPr>
              <a:t>Figure </a:t>
            </a:r>
            <a:r>
              <a:rPr lang="de-DE" sz="800" dirty="0" err="1">
                <a:latin typeface="Helvetica Light" panose="020B0403020202020204" pitchFamily="34" charset="0"/>
              </a:rPr>
              <a:t>from</a:t>
            </a:r>
            <a:r>
              <a:rPr lang="de-DE" sz="800" dirty="0">
                <a:latin typeface="Helvetica Light" panose="020B0403020202020204" pitchFamily="34" charset="0"/>
              </a:rPr>
              <a:t> “</a:t>
            </a:r>
            <a:r>
              <a:rPr lang="de-DE" sz="800" dirty="0" err="1">
                <a:latin typeface="Helvetica Light" panose="020B0403020202020204" pitchFamily="34" charset="0"/>
              </a:rPr>
              <a:t>Analyzing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combined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eye</a:t>
            </a:r>
            <a:r>
              <a:rPr lang="de-DE" sz="800" dirty="0">
                <a:latin typeface="Helvetica Light" panose="020B0403020202020204" pitchFamily="34" charset="0"/>
              </a:rPr>
              <a:t>-tracking/EEG </a:t>
            </a:r>
            <a:r>
              <a:rPr lang="de-DE" sz="800" dirty="0" err="1">
                <a:latin typeface="Helvetica Light" panose="020B0403020202020204" pitchFamily="34" charset="0"/>
              </a:rPr>
              <a:t>experiments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with</a:t>
            </a:r>
            <a:r>
              <a:rPr lang="de-DE" sz="800" dirty="0">
                <a:latin typeface="Helvetica Light" panose="020B0403020202020204" pitchFamily="34" charset="0"/>
              </a:rPr>
              <a:t> (non)linear-</a:t>
            </a:r>
            <a:r>
              <a:rPr lang="de-DE" sz="800" dirty="0" err="1">
                <a:latin typeface="Helvetica Light" panose="020B0403020202020204" pitchFamily="34" charset="0"/>
              </a:rPr>
              <a:t>deconvolution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models</a:t>
            </a:r>
            <a:r>
              <a:rPr lang="de-DE" sz="800" dirty="0">
                <a:latin typeface="Helvetica Light" panose="020B0403020202020204" pitchFamily="34" charset="0"/>
              </a:rPr>
              <a:t>.” </a:t>
            </a:r>
            <a:r>
              <a:rPr lang="de-DE" sz="800" dirty="0" err="1">
                <a:latin typeface="Helvetica Light" panose="020B0403020202020204" pitchFamily="34" charset="0"/>
              </a:rPr>
              <a:t>by</a:t>
            </a:r>
            <a:r>
              <a:rPr lang="de-DE" sz="800" dirty="0">
                <a:latin typeface="Helvetica Light" panose="020B0403020202020204" pitchFamily="34" charset="0"/>
              </a:rPr>
              <a:t> O. </a:t>
            </a:r>
            <a:r>
              <a:rPr lang="de-DE" sz="800" dirty="0" err="1">
                <a:latin typeface="Helvetica Light" panose="020B0403020202020204" pitchFamily="34" charset="0"/>
              </a:rPr>
              <a:t>Dimigen</a:t>
            </a:r>
            <a:r>
              <a:rPr lang="de-DE" sz="800" dirty="0">
                <a:latin typeface="Helvetica Light" panose="020B0403020202020204" pitchFamily="34" charset="0"/>
              </a:rPr>
              <a:t> and B. V. Ehinger, 2020, </a:t>
            </a:r>
            <a:r>
              <a:rPr lang="de-DE" sz="800" dirty="0" err="1">
                <a:latin typeface="Helvetica Light" panose="020B0403020202020204" pitchFamily="34" charset="0"/>
              </a:rPr>
              <a:t>bioRxiv</a:t>
            </a:r>
            <a:r>
              <a:rPr lang="de-DE" sz="800" dirty="0">
                <a:latin typeface="Helvetica Light" panose="020B0403020202020204" pitchFamily="34" charset="0"/>
              </a:rPr>
              <a:t>. CC-BY-NC-ND 4.0.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2B579A-6023-3C9A-358D-765F449D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49" y="1245388"/>
            <a:ext cx="5761546" cy="235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57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E2B8-7FCA-4E50-162B-A383225B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F26DB-DCC8-23FB-CF49-D53F60B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FC5F37-6406-30E1-EB72-DCA29DA7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 err="1"/>
              <a:t>Overlap</a:t>
            </a:r>
            <a:r>
              <a:rPr lang="de-DE" sz="2000" b="1" dirty="0"/>
              <a:t> </a:t>
            </a:r>
            <a:r>
              <a:rPr lang="de-DE" sz="2000" b="1" dirty="0" err="1"/>
              <a:t>corrected</a:t>
            </a:r>
            <a:r>
              <a:rPr lang="de-DE" sz="2000" b="1" dirty="0"/>
              <a:t> </a:t>
            </a:r>
            <a:r>
              <a:rPr lang="de-DE" sz="2000" b="1" dirty="0" err="1"/>
              <a:t>models</a:t>
            </a:r>
            <a:r>
              <a:rPr lang="de-DE" sz="2000" b="1" dirty="0"/>
              <a:t> (linear </a:t>
            </a:r>
            <a:r>
              <a:rPr lang="de-DE" sz="2000" b="1" dirty="0" err="1"/>
              <a:t>deconvolution</a:t>
            </a:r>
            <a:r>
              <a:rPr lang="de-DE" sz="2000" b="1" dirty="0"/>
              <a:t>)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1100" b="1" dirty="0"/>
          </a:p>
          <a:p>
            <a:pPr marL="0" indent="0">
              <a:buNone/>
            </a:pPr>
            <a:endParaRPr lang="de-DE" sz="1100" b="1" dirty="0"/>
          </a:p>
          <a:p>
            <a:pPr marL="0" indent="0">
              <a:buNone/>
            </a:pPr>
            <a:endParaRPr lang="de-DE" sz="1100" b="1" dirty="0"/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1100" dirty="0">
              <a:solidFill>
                <a:srgbClr val="6A995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Define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basis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overlap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correction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)</a:t>
            </a: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basisfunction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firbasis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τ </a:t>
            </a:r>
            <a:r>
              <a:rPr lang="el-GR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l-GR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l-GR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l-GR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l-GR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sfreq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250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Fit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Unfold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overlap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correction</a:t>
            </a:r>
            <a:r>
              <a:rPr lang="de-DE" sz="11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)</a:t>
            </a:r>
            <a:endParaRPr lang="de-DE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m_oc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UnfoldModel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stimOnset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(f,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basisfunction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events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de-DE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eventcolumn</a:t>
            </a:r>
            <a:r>
              <a:rPr lang="de-DE" sz="11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de-DE" sz="11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5A7450-D85A-B523-579B-194DE98659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10" y="5373631"/>
            <a:ext cx="8964290" cy="304168"/>
          </a:xfrm>
        </p:spPr>
        <p:txBody>
          <a:bodyPr>
            <a:normAutofit/>
          </a:bodyPr>
          <a:lstStyle/>
          <a:p>
            <a:r>
              <a:rPr lang="de-DE" sz="800" dirty="0">
                <a:latin typeface="Helvetica Light" panose="020B0403020202020204" pitchFamily="34" charset="0"/>
              </a:rPr>
              <a:t>Figure </a:t>
            </a:r>
            <a:r>
              <a:rPr lang="de-DE" sz="800" dirty="0" err="1">
                <a:latin typeface="Helvetica Light" panose="020B0403020202020204" pitchFamily="34" charset="0"/>
              </a:rPr>
              <a:t>from</a:t>
            </a:r>
            <a:r>
              <a:rPr lang="de-DE" sz="800" dirty="0">
                <a:latin typeface="Helvetica Light" panose="020B0403020202020204" pitchFamily="34" charset="0"/>
              </a:rPr>
              <a:t> “</a:t>
            </a:r>
            <a:r>
              <a:rPr lang="de-DE" sz="800" dirty="0" err="1">
                <a:latin typeface="Helvetica Light" panose="020B0403020202020204" pitchFamily="34" charset="0"/>
              </a:rPr>
              <a:t>Unfold</a:t>
            </a:r>
            <a:r>
              <a:rPr lang="de-DE" sz="800" dirty="0">
                <a:latin typeface="Helvetica Light" panose="020B0403020202020204" pitchFamily="34" charset="0"/>
              </a:rPr>
              <a:t>: an </a:t>
            </a:r>
            <a:r>
              <a:rPr lang="de-DE" sz="800" dirty="0" err="1">
                <a:latin typeface="Helvetica Light" panose="020B0403020202020204" pitchFamily="34" charset="0"/>
              </a:rPr>
              <a:t>integrated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toolbox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for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overlap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correction</a:t>
            </a:r>
            <a:r>
              <a:rPr lang="de-DE" sz="800" dirty="0">
                <a:latin typeface="Helvetica Light" panose="020B0403020202020204" pitchFamily="34" charset="0"/>
              </a:rPr>
              <a:t>, </a:t>
            </a:r>
            <a:r>
              <a:rPr lang="de-DE" sz="800" dirty="0" err="1">
                <a:latin typeface="Helvetica Light" panose="020B0403020202020204" pitchFamily="34" charset="0"/>
              </a:rPr>
              <a:t>nonlinear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modelling</a:t>
            </a:r>
            <a:r>
              <a:rPr lang="de-DE" sz="800" dirty="0">
                <a:latin typeface="Helvetica Light" panose="020B0403020202020204" pitchFamily="34" charset="0"/>
              </a:rPr>
              <a:t>, and </a:t>
            </a:r>
            <a:r>
              <a:rPr lang="de-DE" sz="800" dirty="0" err="1">
                <a:latin typeface="Helvetica Light" panose="020B0403020202020204" pitchFamily="34" charset="0"/>
              </a:rPr>
              <a:t>regression-based</a:t>
            </a:r>
            <a:r>
              <a:rPr lang="de-DE" sz="800" dirty="0">
                <a:latin typeface="Helvetica Light" panose="020B0403020202020204" pitchFamily="34" charset="0"/>
              </a:rPr>
              <a:t> EEG </a:t>
            </a:r>
            <a:r>
              <a:rPr lang="de-DE" sz="800" dirty="0" err="1">
                <a:latin typeface="Helvetica Light" panose="020B0403020202020204" pitchFamily="34" charset="0"/>
              </a:rPr>
              <a:t>analysis</a:t>
            </a:r>
            <a:r>
              <a:rPr lang="de-DE" sz="800" dirty="0">
                <a:latin typeface="Helvetica Light" panose="020B0403020202020204" pitchFamily="34" charset="0"/>
              </a:rPr>
              <a:t>” </a:t>
            </a:r>
            <a:r>
              <a:rPr lang="de-DE" sz="800" dirty="0" err="1">
                <a:latin typeface="Helvetica Light" panose="020B0403020202020204" pitchFamily="34" charset="0"/>
              </a:rPr>
              <a:t>by</a:t>
            </a:r>
            <a:r>
              <a:rPr lang="de-DE" sz="800" dirty="0">
                <a:latin typeface="Helvetica Light" panose="020B0403020202020204" pitchFamily="34" charset="0"/>
              </a:rPr>
              <a:t> B. V. Ehinger and O. </a:t>
            </a:r>
            <a:r>
              <a:rPr lang="de-DE" sz="800" dirty="0" err="1">
                <a:latin typeface="Helvetica Light" panose="020B0403020202020204" pitchFamily="34" charset="0"/>
              </a:rPr>
              <a:t>Dimigen</a:t>
            </a:r>
            <a:r>
              <a:rPr lang="de-DE" sz="800" dirty="0">
                <a:latin typeface="Helvetica Light" panose="020B0403020202020204" pitchFamily="34" charset="0"/>
              </a:rPr>
              <a:t>, 2019, </a:t>
            </a:r>
            <a:r>
              <a:rPr lang="de-DE" sz="800" dirty="0" err="1">
                <a:latin typeface="Helvetica Light" panose="020B0403020202020204" pitchFamily="34" charset="0"/>
              </a:rPr>
              <a:t>PeerJ</a:t>
            </a:r>
            <a:r>
              <a:rPr lang="de-DE" sz="800" dirty="0">
                <a:latin typeface="Helvetica Light" panose="020B0403020202020204" pitchFamily="34" charset="0"/>
              </a:rPr>
              <a:t>, 7, e7838. CC-BY 4.0.</a:t>
            </a:r>
          </a:p>
          <a:p>
            <a:endParaRPr lang="de-DE" sz="800" dirty="0">
              <a:latin typeface="Helvetica Light" panose="020B0403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4443E2-231C-425A-9EF2-30CD1659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50" y="1208841"/>
            <a:ext cx="4757872" cy="251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33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2336-3838-4A38-61A9-BFF753A3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05E727-B756-05CC-48C5-AE29EBE3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22F63D-F048-29B1-CA34-F5A3DEEF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Marginal </a:t>
            </a:r>
            <a:r>
              <a:rPr lang="de-DE" b="1" dirty="0" err="1"/>
              <a:t>Effects</a:t>
            </a:r>
            <a:endParaRPr lang="de-DE" b="1" dirty="0"/>
          </a:p>
          <a:p>
            <a:r>
              <a:rPr lang="de-DE" dirty="0"/>
              <a:t> Analyze </a:t>
            </a:r>
            <a:r>
              <a:rPr lang="de-DE" dirty="0" err="1"/>
              <a:t>how</a:t>
            </a:r>
            <a:r>
              <a:rPr lang="de-DE" dirty="0"/>
              <a:t> a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coviarate</a:t>
            </a:r>
            <a:r>
              <a:rPr lang="de-DE" dirty="0"/>
              <a:t> (blank, </a:t>
            </a:r>
            <a:r>
              <a:rPr lang="de-DE" dirty="0" err="1"/>
              <a:t>duration</a:t>
            </a:r>
            <a:r>
              <a:rPr lang="de-DE" dirty="0"/>
              <a:t>) </a:t>
            </a:r>
            <a:r>
              <a:rPr lang="de-DE" dirty="0" err="1"/>
              <a:t>affects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ERP</a:t>
            </a:r>
          </a:p>
          <a:p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linear and non-linear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covariate</a:t>
            </a:r>
            <a:r>
              <a:rPr lang="de-DE" dirty="0"/>
              <a:t> </a:t>
            </a:r>
            <a:r>
              <a:rPr lang="de-DE" i="1" dirty="0" err="1"/>
              <a:t>duration</a:t>
            </a:r>
            <a:endParaRPr lang="de-DE" i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A055E1-989C-A977-2746-1158121DF4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de-DE" sz="800" dirty="0">
                <a:latin typeface="Helvetica Light" panose="020B0403020202020204" pitchFamily="34" charset="0"/>
              </a:rPr>
              <a:t>GIF </a:t>
            </a:r>
            <a:r>
              <a:rPr lang="de-DE" sz="800" dirty="0" err="1">
                <a:latin typeface="Helvetica Light" panose="020B0403020202020204" pitchFamily="34" charset="0"/>
              </a:rPr>
              <a:t>from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Unfold.jl</a:t>
            </a:r>
            <a:r>
              <a:rPr lang="de-DE" sz="800" dirty="0">
                <a:latin typeface="Helvetica Light" panose="020B0403020202020204" pitchFamily="34" charset="0"/>
              </a:rPr>
              <a:t> </a:t>
            </a:r>
            <a:r>
              <a:rPr lang="de-DE" sz="800" dirty="0" err="1">
                <a:latin typeface="Helvetica Light" panose="020B0403020202020204" pitchFamily="34" charset="0"/>
              </a:rPr>
              <a:t>Documentation</a:t>
            </a:r>
            <a:r>
              <a:rPr lang="de-DE" sz="800" dirty="0">
                <a:latin typeface="Helvetica Light" panose="020B0403020202020204" pitchFamily="34" charset="0"/>
              </a:rPr>
              <a:t>, </a:t>
            </a:r>
            <a:r>
              <a:rPr lang="de-DE" sz="800" dirty="0">
                <a:latin typeface="Helvetica Light" panose="020B0403020202020204" pitchFamily="34" charset="0"/>
                <a:hlinkClick r:id="rId2"/>
              </a:rPr>
              <a:t>https://unfoldtoolbox.github.io/UnfoldDocs/Unfold.jl/stable/</a:t>
            </a:r>
            <a:r>
              <a:rPr lang="de-DE" sz="800" dirty="0">
                <a:latin typeface="Helvetica Light" panose="020B0403020202020204" pitchFamily="34" charset="0"/>
              </a:rPr>
              <a:t> 2025</a:t>
            </a:r>
          </a:p>
        </p:txBody>
      </p:sp>
      <p:pic>
        <p:nvPicPr>
          <p:cNvPr id="6" name="Grafik 5" descr="Ein Bild, das Diagramm, Reihe, Design enthält.&#10;&#10;KI-generierte Inhalte können fehlerhaft sein.">
            <a:extLst>
              <a:ext uri="{FF2B5EF4-FFF2-40B4-BE49-F238E27FC236}">
                <a16:creationId xmlns:a16="http://schemas.microsoft.com/office/drawing/2014/main" id="{7A427277-BE73-75B3-8337-F8AD1493F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31" y="2115045"/>
            <a:ext cx="4204138" cy="315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52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899C-FA98-4D39-3859-830E4015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22C92-6C09-9AEF-E20A-EDEE0AB8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3B940D-80B5-8C7D-C7DB-51804D17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Linear </a:t>
            </a:r>
            <a:r>
              <a:rPr lang="de-DE" sz="2000" b="1" dirty="0" err="1"/>
              <a:t>vs</a:t>
            </a:r>
            <a:r>
              <a:rPr lang="de-DE" sz="2000" b="1" dirty="0"/>
              <a:t> non-linear </a:t>
            </a:r>
            <a:r>
              <a:rPr lang="de-DE" sz="2000" b="1" dirty="0" err="1"/>
              <a:t>models</a:t>
            </a:r>
            <a:endParaRPr lang="de-DE" sz="2000" b="1" dirty="0"/>
          </a:p>
          <a:p>
            <a:pPr marL="0" indent="0">
              <a:buNone/>
            </a:pPr>
            <a:r>
              <a:rPr lang="de-DE" dirty="0" err="1"/>
              <a:t>Definitions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formulas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sz="1100" dirty="0"/>
          </a:p>
          <a:p>
            <a:pPr>
              <a:lnSpc>
                <a:spcPts val="1350"/>
              </a:lnSpc>
              <a:buNone/>
            </a:pP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de-DE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formula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~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blank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duration</a:t>
            </a:r>
            <a:endParaRPr lang="de-DE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f_5spl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de-DE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formula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~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blank </a:t>
            </a:r>
            <a:r>
              <a:rPr lang="de-D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spl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duration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de-DE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ADD864-4B3B-0441-F7B5-855127D05F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38C54C-C306-90B5-AA5B-07992296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265" y="2659935"/>
            <a:ext cx="5392744" cy="203904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02DA243-3271-24B8-88C8-BBE4A78C57BA}"/>
              </a:ext>
            </a:extLst>
          </p:cNvPr>
          <p:cNvSpPr txBox="1"/>
          <p:nvPr/>
        </p:nvSpPr>
        <p:spPr>
          <a:xfrm>
            <a:off x="1695414" y="4698983"/>
            <a:ext cx="4635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>
                <a:latin typeface="Helvetica Light" panose="020B0403020202020204" pitchFamily="34" charset="0"/>
              </a:rPr>
              <a:t>Application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of</a:t>
            </a:r>
            <a:r>
              <a:rPr lang="de-DE" sz="1000" dirty="0">
                <a:latin typeface="Helvetica Light" panose="020B0403020202020204" pitchFamily="34" charset="0"/>
              </a:rPr>
              <a:t> 6 b-</a:t>
            </a:r>
            <a:r>
              <a:rPr lang="de-DE" sz="1000" dirty="0" err="1">
                <a:latin typeface="Helvetica Light" panose="020B0403020202020204" pitchFamily="34" charset="0"/>
              </a:rPr>
              <a:t>splines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to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model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continuous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predictor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luminance</a:t>
            </a:r>
            <a:r>
              <a:rPr lang="de-DE" sz="1000" dirty="0">
                <a:latin typeface="Helvetica Light" panose="020B0403020202020204" pitchFamily="34" charset="0"/>
              </a:rPr>
              <a:t> </a:t>
            </a:r>
            <a:r>
              <a:rPr lang="de-DE" sz="1000" dirty="0" err="1">
                <a:latin typeface="Helvetica Light" panose="020B0403020202020204" pitchFamily="34" charset="0"/>
              </a:rPr>
              <a:t>by</a:t>
            </a:r>
            <a:r>
              <a:rPr lang="de-DE" sz="1000" dirty="0">
                <a:latin typeface="Helvetica Light" panose="020B0403020202020204" pitchFamily="34" charset="0"/>
              </a:rPr>
              <a:t> B. V. Ehinger and O. </a:t>
            </a:r>
            <a:r>
              <a:rPr lang="de-DE" sz="1000" dirty="0" err="1">
                <a:latin typeface="Helvetica Light" panose="020B0403020202020204" pitchFamily="34" charset="0"/>
              </a:rPr>
              <a:t>Dimigen</a:t>
            </a:r>
            <a:r>
              <a:rPr lang="de-DE" sz="1000" dirty="0">
                <a:latin typeface="Helvetica Light" panose="020B0403020202020204" pitchFamily="34" charset="0"/>
              </a:rPr>
              <a:t>, 2019, </a:t>
            </a:r>
            <a:r>
              <a:rPr lang="de-DE" sz="1000" dirty="0" err="1">
                <a:latin typeface="Helvetica Light" panose="020B0403020202020204" pitchFamily="34" charset="0"/>
              </a:rPr>
              <a:t>PeerJ</a:t>
            </a:r>
            <a:r>
              <a:rPr lang="de-DE" sz="1000" dirty="0">
                <a:latin typeface="Helvetica Light" panose="020B0403020202020204" pitchFamily="34" charset="0"/>
              </a:rPr>
              <a:t>, 7, e7838. CC-BY 4.0.</a:t>
            </a:r>
          </a:p>
          <a:p>
            <a:endParaRPr lang="de-DE" sz="1000" dirty="0">
              <a:latin typeface="Helvetica Light" panose="020B0403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DF712AC-91AA-1CF4-5714-382BE2585C63}"/>
              </a:ext>
            </a:extLst>
          </p:cNvPr>
          <p:cNvSpPr txBox="1"/>
          <p:nvPr/>
        </p:nvSpPr>
        <p:spPr>
          <a:xfrm>
            <a:off x="5845628" y="1332634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Helvetica Light" panose="020B0403020202020204" pitchFamily="34" charset="0"/>
              </a:rPr>
              <a:t>linear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96A7895-D19F-16F9-F293-D9E0DC554330}"/>
              </a:ext>
            </a:extLst>
          </p:cNvPr>
          <p:cNvCxnSpPr>
            <a:cxnSpLocks/>
          </p:cNvCxnSpPr>
          <p:nvPr/>
        </p:nvCxnSpPr>
        <p:spPr>
          <a:xfrm flipH="1">
            <a:off x="5638800" y="1601099"/>
            <a:ext cx="283029" cy="238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0B5E7DA-0306-E1EC-2A73-A55154185711}"/>
              </a:ext>
            </a:extLst>
          </p:cNvPr>
          <p:cNvSpPr txBox="1"/>
          <p:nvPr/>
        </p:nvSpPr>
        <p:spPr>
          <a:xfrm>
            <a:off x="6820009" y="1710338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Helvetica Light" panose="020B0403020202020204" pitchFamily="34" charset="0"/>
              </a:rPr>
              <a:t>non-linear (5-splines)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7150065-57E0-1C4B-4518-B962E2A52CDD}"/>
              </a:ext>
            </a:extLst>
          </p:cNvPr>
          <p:cNvCxnSpPr>
            <a:cxnSpLocks/>
          </p:cNvCxnSpPr>
          <p:nvPr/>
        </p:nvCxnSpPr>
        <p:spPr>
          <a:xfrm flipH="1">
            <a:off x="6613181" y="1978803"/>
            <a:ext cx="283029" cy="238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202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59FE-A84D-92DD-A024-6DB9DD4E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E8102-4979-53BB-7DE1-6398E119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Duration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C7F36B-D89A-B90F-A18A-F99301735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3DB72B-D5A4-85FB-F40D-6599086BCBB1}"/>
              </a:ext>
            </a:extLst>
          </p:cNvPr>
          <p:cNvSpPr txBox="1"/>
          <p:nvPr/>
        </p:nvSpPr>
        <p:spPr>
          <a:xfrm>
            <a:off x="2653415" y="582660"/>
            <a:ext cx="1585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mass</a:t>
            </a:r>
            <a:r>
              <a:rPr lang="de-DE" sz="1200" dirty="0">
                <a:latin typeface="Helvetica Light" panose="020B0403020202020204" pitchFamily="34" charset="0"/>
              </a:rPr>
              <a:t> univariate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0D17E51-8DF6-33A7-8309-1AB77B854325}"/>
              </a:ext>
            </a:extLst>
          </p:cNvPr>
          <p:cNvSpPr txBox="1"/>
          <p:nvPr/>
        </p:nvSpPr>
        <p:spPr>
          <a:xfrm>
            <a:off x="5159675" y="585217"/>
            <a:ext cx="1585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overlap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corrected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90F1017-EF8C-C5D3-5EA4-B7B127C581C8}"/>
              </a:ext>
            </a:extLst>
          </p:cNvPr>
          <p:cNvSpPr txBox="1"/>
          <p:nvPr/>
        </p:nvSpPr>
        <p:spPr>
          <a:xfrm>
            <a:off x="358414" y="4855341"/>
            <a:ext cx="386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PO8 </a:t>
            </a:r>
            <a:r>
              <a:rPr lang="de-DE" sz="1200" dirty="0" err="1">
                <a:latin typeface="Helvetica Light" panose="020B0403020202020204" pitchFamily="34" charset="0"/>
              </a:rPr>
              <a:t>electrode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of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subject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with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noisy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data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08DF52-A1EB-1B6C-AE20-B15962947FB9}"/>
              </a:ext>
            </a:extLst>
          </p:cNvPr>
          <p:cNvSpPr txBox="1"/>
          <p:nvPr/>
        </p:nvSpPr>
        <p:spPr>
          <a:xfrm>
            <a:off x="853682" y="1609227"/>
            <a:ext cx="605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linear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45CFAC7-31EF-FC03-63E3-60A05BC4963D}"/>
              </a:ext>
            </a:extLst>
          </p:cNvPr>
          <p:cNvSpPr txBox="1"/>
          <p:nvPr/>
        </p:nvSpPr>
        <p:spPr>
          <a:xfrm>
            <a:off x="720957" y="3551774"/>
            <a:ext cx="870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5-spline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B9059B5-978B-0B4D-8E2C-A253B32F3137}"/>
              </a:ext>
            </a:extLst>
          </p:cNvPr>
          <p:cNvGrpSpPr/>
          <p:nvPr/>
        </p:nvGrpSpPr>
        <p:grpSpPr>
          <a:xfrm>
            <a:off x="1977234" y="896226"/>
            <a:ext cx="5189532" cy="3922547"/>
            <a:chOff x="1941800" y="958018"/>
            <a:chExt cx="5189532" cy="392254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5882FC6-EF98-1224-B5CA-2D26A268DD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7414" y="2900565"/>
              <a:ext cx="2640000" cy="19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A345156-9424-3F75-9EB8-FC910DF54A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478"/>
            <a:stretch>
              <a:fillRect/>
            </a:stretch>
          </p:blipFill>
          <p:spPr bwMode="auto">
            <a:xfrm>
              <a:off x="1941800" y="2900565"/>
              <a:ext cx="2284188" cy="19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Grafik 15" descr="Ein Bild, das Diagramm, Screenshot, Reihe, Farbigkeit enthält.&#10;&#10;KI-generierte Inhalte können fehlerhaft sein.">
              <a:extLst>
                <a:ext uri="{FF2B5EF4-FFF2-40B4-BE49-F238E27FC236}">
                  <a16:creationId xmlns:a16="http://schemas.microsoft.com/office/drawing/2014/main" id="{645E0B4E-0442-2EBC-57BB-7E064DE77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06"/>
            <a:stretch>
              <a:fillRect/>
            </a:stretch>
          </p:blipFill>
          <p:spPr>
            <a:xfrm>
              <a:off x="1941801" y="958018"/>
              <a:ext cx="2284188" cy="1980000"/>
            </a:xfrm>
            <a:prstGeom prst="rect">
              <a:avLst/>
            </a:prstGeom>
          </p:spPr>
        </p:pic>
        <p:pic>
          <p:nvPicPr>
            <p:cNvPr id="18" name="Grafik 17" descr="Ein Bild, das Diagramm, Screenshot, Reihe, Farbigkeit enthält.&#10;&#10;KI-generierte Inhalte können fehlerhaft sein.">
              <a:extLst>
                <a:ext uri="{FF2B5EF4-FFF2-40B4-BE49-F238E27FC236}">
                  <a16:creationId xmlns:a16="http://schemas.microsoft.com/office/drawing/2014/main" id="{B2079CD7-C9D7-99DE-5888-92171AE10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7415" y="958018"/>
              <a:ext cx="2643917" cy="19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17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FBC5-1172-2796-5A1D-B0FD05E8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2B49E-EBF3-1943-C973-8898301D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Blanks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2DF933-97F9-BC10-ECBE-1D2383BD6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E8E4402-A149-6131-EC5E-DEBF673F48AD}"/>
              </a:ext>
            </a:extLst>
          </p:cNvPr>
          <p:cNvSpPr txBox="1"/>
          <p:nvPr/>
        </p:nvSpPr>
        <p:spPr>
          <a:xfrm>
            <a:off x="1527477" y="857102"/>
            <a:ext cx="1631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mass</a:t>
            </a:r>
            <a:r>
              <a:rPr lang="de-DE" sz="1200" dirty="0">
                <a:latin typeface="Helvetica Light" panose="020B0403020202020204" pitchFamily="34" charset="0"/>
              </a:rPr>
              <a:t> univariate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F6E2C10-3D5D-63FB-9F0B-29764FE14AFE}"/>
              </a:ext>
            </a:extLst>
          </p:cNvPr>
          <p:cNvSpPr txBox="1"/>
          <p:nvPr/>
        </p:nvSpPr>
        <p:spPr>
          <a:xfrm>
            <a:off x="5585841" y="857102"/>
            <a:ext cx="1631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overlap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corrected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pic>
        <p:nvPicPr>
          <p:cNvPr id="11" name="Grafik 10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5D84FCA3-CFFD-EF8B-D421-EB10583F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06"/>
          <a:stretch>
            <a:fillRect/>
          </a:stretch>
        </p:blipFill>
        <p:spPr>
          <a:xfrm>
            <a:off x="478284" y="1327500"/>
            <a:ext cx="3464732" cy="3060000"/>
          </a:xfrm>
          <a:prstGeom prst="rect">
            <a:avLst/>
          </a:prstGeom>
        </p:spPr>
      </p:pic>
      <p:pic>
        <p:nvPicPr>
          <p:cNvPr id="13" name="Grafik 1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C4BC0E9A-EC13-0376-08CC-64C1B1D68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988" y="1327500"/>
            <a:ext cx="4086053" cy="30600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8217FEB-FBA8-A45B-611B-8827AD4CCFE4}"/>
              </a:ext>
            </a:extLst>
          </p:cNvPr>
          <p:cNvSpPr txBox="1"/>
          <p:nvPr/>
        </p:nvSpPr>
        <p:spPr>
          <a:xfrm>
            <a:off x="358414" y="4603566"/>
            <a:ext cx="386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Helvetica Light" panose="020B0403020202020204" pitchFamily="34" charset="0"/>
              </a:rPr>
              <a:t>PO8 </a:t>
            </a:r>
            <a:r>
              <a:rPr lang="de-DE" sz="1200" dirty="0" err="1">
                <a:latin typeface="Helvetica Light" panose="020B0403020202020204" pitchFamily="34" charset="0"/>
              </a:rPr>
              <a:t>electrode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of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subject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with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noisy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data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767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DB87E7-055A-7D4F-8C34-B870A229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53C80-B046-D033-9DF5-66BCAB1D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 Finish Group Analysis and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(</a:t>
            </a:r>
            <a:r>
              <a:rPr lang="de-DE" dirty="0" err="1"/>
              <a:t>Hotellings</a:t>
            </a:r>
            <a:r>
              <a:rPr lang="de-DE" dirty="0"/>
              <a:t> T-</a:t>
            </a:r>
            <a:r>
              <a:rPr lang="de-DE" dirty="0" err="1"/>
              <a:t>squared</a:t>
            </a:r>
            <a:r>
              <a:rPr lang="de-DE" dirty="0"/>
              <a:t> Test, Cluster </a:t>
            </a:r>
            <a:r>
              <a:rPr lang="de-DE" dirty="0" err="1"/>
              <a:t>permutation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)</a:t>
            </a:r>
          </a:p>
          <a:p>
            <a:r>
              <a:rPr lang="de-DE" dirty="0"/>
              <a:t> Interpret </a:t>
            </a:r>
            <a:r>
              <a:rPr lang="de-DE" dirty="0" err="1"/>
              <a:t>results</a:t>
            </a:r>
            <a:endParaRPr lang="de-DE" dirty="0"/>
          </a:p>
          <a:p>
            <a:r>
              <a:rPr lang="de-DE" dirty="0"/>
              <a:t> Write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thesis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F6EEE0-C287-349E-DD8A-D038E4212F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0ACBA4-739B-9DB2-D870-9B6C2884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13" y="3352800"/>
            <a:ext cx="5995774" cy="12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7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73E9-F4E3-74F6-1FC5-DC1E2516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1597C-1665-C383-6700-077974A8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Open Questions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4C9AC4-136E-6B12-9A04-550BBECF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last </a:t>
            </a:r>
            <a:r>
              <a:rPr lang="de-DE" dirty="0" err="1"/>
              <a:t>stimulus</a:t>
            </a:r>
            <a:r>
              <a:rPr lang="de-DE" dirty="0"/>
              <a:t> in a block? (May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runout</a:t>
            </a:r>
            <a:r>
              <a:rPr lang="de-DE" dirty="0"/>
              <a:t> after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offeset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ERP)</a:t>
            </a:r>
          </a:p>
          <a:p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deal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showed</a:t>
            </a:r>
            <a:r>
              <a:rPr lang="de-DE" dirty="0"/>
              <a:t> </a:t>
            </a:r>
            <a:r>
              <a:rPr lang="de-DE" dirty="0" err="1"/>
              <a:t>noisy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?</a:t>
            </a:r>
          </a:p>
          <a:p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and </a:t>
            </a:r>
            <a:r>
              <a:rPr lang="de-DE" dirty="0" err="1"/>
              <a:t>neighbouring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interpolation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missing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DE833C-5FD5-4CBA-1637-4E7B6119D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956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6466EF67-84EE-47EA-97A5-E7BEC6074B1A}"/>
    </a:ext>
  </a:extLst>
</a:theme>
</file>

<file path=ppt/theme/theme2.xml><?xml version="1.0" encoding="utf-8"?>
<a:theme xmlns:a="http://schemas.openxmlformats.org/drawingml/2006/main" name="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0F395F61-3272-4000-A9CD-70E3D59EDB7B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A59BB390-2915-4AD5-A0F2-288C98C59C4A}"/>
    </a:ext>
  </a:extLst>
</a:theme>
</file>

<file path=ppt/theme/theme4.xml><?xml version="1.0" encoding="utf-8"?>
<a:theme xmlns:a="http://schemas.openxmlformats.org/drawingml/2006/main" name="1_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527C9646-2207-4B14-8FB6-9DDBA1FBAC0F}"/>
    </a:ext>
  </a:extLst>
</a:theme>
</file>

<file path=ppt/theme/theme5.xml><?xml version="1.0" encoding="utf-8"?>
<a:theme xmlns:a="http://schemas.openxmlformats.org/drawingml/2006/main" name="1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75CE0791-CAE6-4255-BB0C-20DBA5A58A84}"/>
    </a:ext>
  </a:extLst>
</a:theme>
</file>

<file path=ppt/theme/theme6.xml><?xml version="1.0" encoding="utf-8"?>
<a:theme xmlns:a="http://schemas.openxmlformats.org/drawingml/2006/main" name="2_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5F462FF2-7BEA-4A76-A7A5-8493878C3B45}"/>
    </a:ext>
  </a:extLst>
</a:theme>
</file>

<file path=ppt/theme/theme7.xml><?xml version="1.0" encoding="utf-8"?>
<a:theme xmlns:a="http://schemas.openxmlformats.org/drawingml/2006/main" name="2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221C115A-095A-4385-B1B4-1C537FA8B2F0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</Template>
  <TotalTime>0</TotalTime>
  <Words>1155</Words>
  <Application>Microsoft Macintosh PowerPoint</Application>
  <PresentationFormat>Bildschirmpräsentation (16:10)</PresentationFormat>
  <Paragraphs>170</Paragraphs>
  <Slides>23</Slides>
  <Notes>0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15</vt:i4>
      </vt:variant>
      <vt:variant>
        <vt:lpstr>Design</vt:lpstr>
      </vt:variant>
      <vt:variant>
        <vt:i4>7</vt:i4>
      </vt:variant>
      <vt:variant>
        <vt:lpstr>Folientitel</vt:lpstr>
      </vt:variant>
      <vt:variant>
        <vt:i4>23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Franklin Gothic Book</vt:lpstr>
      <vt:lpstr>Helvetica</vt:lpstr>
      <vt:lpstr>Helvetica Light</vt:lpstr>
      <vt:lpstr>HelveticaNeueLT Pro 45 Lt</vt:lpstr>
      <vt:lpstr>HelveticaNeueLT Pro 65 Md</vt:lpstr>
      <vt:lpstr>Menlo</vt:lpstr>
      <vt:lpstr>Myriad Pro</vt:lpstr>
      <vt:lpstr>Roboto</vt:lpstr>
      <vt:lpstr>Univers</vt:lpstr>
      <vt:lpstr>Verdana Pro</vt:lpstr>
      <vt:lpstr>Wingdings</vt:lpstr>
      <vt:lpstr>Title</vt:lpstr>
      <vt:lpstr>Content</vt:lpstr>
      <vt:lpstr>Benutzerdefiniertes Design</vt:lpstr>
      <vt:lpstr>1_Title</vt:lpstr>
      <vt:lpstr>1_Content</vt:lpstr>
      <vt:lpstr>2_Title</vt:lpstr>
      <vt:lpstr>2_Content</vt:lpstr>
      <vt:lpstr>PowerPoint-Präsentation</vt:lpstr>
      <vt:lpstr>Motivation</vt:lpstr>
      <vt:lpstr>Study</vt:lpstr>
      <vt:lpstr>Study</vt:lpstr>
      <vt:lpstr>Study</vt:lpstr>
      <vt:lpstr>Study</vt:lpstr>
      <vt:lpstr>Goals of thesis</vt:lpstr>
      <vt:lpstr>Preprocessing</vt:lpstr>
      <vt:lpstr>Preprocessing Pipeline</vt:lpstr>
      <vt:lpstr>Preprocessing</vt:lpstr>
      <vt:lpstr>Preprocessing</vt:lpstr>
      <vt:lpstr>Preprocessing</vt:lpstr>
      <vt:lpstr>Analysis</vt:lpstr>
      <vt:lpstr>Analysis</vt:lpstr>
      <vt:lpstr>Analysis</vt:lpstr>
      <vt:lpstr>Analysis</vt:lpstr>
      <vt:lpstr>Analysis</vt:lpstr>
      <vt:lpstr>Analysis</vt:lpstr>
      <vt:lpstr>Analysis</vt:lpstr>
      <vt:lpstr>Effect of Duration</vt:lpstr>
      <vt:lpstr>Effect of Blanks</vt:lpstr>
      <vt:lpstr>Outlook</vt:lpstr>
      <vt:lpstr>Open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Sauter</dc:creator>
  <cp:lastModifiedBy>Jan Sauter</cp:lastModifiedBy>
  <cp:revision>38</cp:revision>
  <dcterms:created xsi:type="dcterms:W3CDTF">2025-09-30T22:23:59Z</dcterms:created>
  <dcterms:modified xsi:type="dcterms:W3CDTF">2025-12-05T12:15:37Z</dcterms:modified>
</cp:coreProperties>
</file>