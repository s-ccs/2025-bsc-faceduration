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5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9" r:id="rId2"/>
    <p:sldMasterId id="2147483688" r:id="rId3"/>
    <p:sldMasterId id="2147483703" r:id="rId4"/>
    <p:sldMasterId id="2147483709" r:id="rId5"/>
    <p:sldMasterId id="2147483714" r:id="rId6"/>
    <p:sldMasterId id="2147483720" r:id="rId7"/>
  </p:sldMasterIdLst>
  <p:notesMasterIdLst>
    <p:notesMasterId r:id="rId30"/>
  </p:notesMasterIdLst>
  <p:handoutMasterIdLst>
    <p:handoutMasterId r:id="rId31"/>
  </p:handoutMasterIdLst>
  <p:sldIdLst>
    <p:sldId id="344" r:id="rId8"/>
    <p:sldId id="374" r:id="rId9"/>
    <p:sldId id="359" r:id="rId10"/>
    <p:sldId id="388" r:id="rId11"/>
    <p:sldId id="350" r:id="rId12"/>
    <p:sldId id="356" r:id="rId13"/>
    <p:sldId id="351" r:id="rId14"/>
    <p:sldId id="375" r:id="rId15"/>
    <p:sldId id="361" r:id="rId16"/>
    <p:sldId id="360" r:id="rId17"/>
    <p:sldId id="352" r:id="rId18"/>
    <p:sldId id="389" r:id="rId19"/>
    <p:sldId id="376" r:id="rId20"/>
    <p:sldId id="378" r:id="rId21"/>
    <p:sldId id="383" r:id="rId22"/>
    <p:sldId id="386" r:id="rId23"/>
    <p:sldId id="387" r:id="rId24"/>
    <p:sldId id="384" r:id="rId25"/>
    <p:sldId id="385" r:id="rId26"/>
    <p:sldId id="354" r:id="rId27"/>
    <p:sldId id="379" r:id="rId28"/>
    <p:sldId id="380" r:id="rId29"/>
  </p:sldIdLst>
  <p:sldSz cx="9144000" cy="5715000" type="screen16x10"/>
  <p:notesSz cx="6858000" cy="9144000"/>
  <p:defaultTextStyle>
    <a:defPPr>
      <a:defRPr lang="de-DE"/>
    </a:defPPr>
    <a:lvl1pPr marL="0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588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174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762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350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2938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524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112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700" algn="l" defTabSz="713174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444C"/>
    <a:srgbClr val="F89A46"/>
    <a:srgbClr val="67B967"/>
    <a:srgbClr val="3B85BC"/>
    <a:srgbClr val="D83745"/>
    <a:srgbClr val="5B9B5E"/>
    <a:srgbClr val="FD8927"/>
    <a:srgbClr val="6494B2"/>
    <a:srgbClr val="FFB9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79030" autoAdjust="0"/>
  </p:normalViewPr>
  <p:slideViewPr>
    <p:cSldViewPr snapToGrid="0">
      <p:cViewPr varScale="1">
        <p:scale>
          <a:sx n="103" d="100"/>
          <a:sy n="103" d="100"/>
        </p:scale>
        <p:origin x="776" y="168"/>
      </p:cViewPr>
      <p:guideLst/>
    </p:cSldViewPr>
  </p:slideViewPr>
  <p:outlineViewPr>
    <p:cViewPr>
      <p:scale>
        <a:sx n="33" d="100"/>
        <a:sy n="33" d="100"/>
      </p:scale>
      <p:origin x="0" y="-1260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3432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9DDD838-A159-44B8-B62C-9BD0A3C464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CB24953-1856-4DE3-972C-125ADBA307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27E7DB-42DA-44B9-9478-182E035A63AB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C7D00C-7394-40FD-AB0D-A8E748A78D5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EDEFBA-DB7F-4CDE-BD04-299352DA24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8422A-1294-4C5E-AEB3-106DE9101CF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1743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79DA3-0AA3-4449-B961-BDF7184C9B82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0E8B08-EAF3-4262-87F7-B5CA32CC135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684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588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174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762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350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2938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524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112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700" algn="l" defTabSz="713174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Simulations</a:t>
            </a:r>
            <a:r>
              <a:rPr lang="de-DE" dirty="0"/>
              <a:t>,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published</a:t>
            </a:r>
            <a:r>
              <a:rPr lang="de-DE" dirty="0"/>
              <a:t> </a:t>
            </a:r>
            <a:r>
              <a:rPr lang="de-DE" dirty="0" err="1"/>
              <a:t>effects</a:t>
            </a:r>
            <a:endParaRPr lang="de-DE" dirty="0"/>
          </a:p>
          <a:p>
            <a:r>
              <a:rPr lang="de-DE" dirty="0"/>
              <a:t>A: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stimulus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 on </a:t>
            </a:r>
            <a:r>
              <a:rPr lang="de-DE" dirty="0" err="1"/>
              <a:t>pupil</a:t>
            </a:r>
            <a:r>
              <a:rPr lang="de-DE" dirty="0"/>
              <a:t> </a:t>
            </a:r>
            <a:r>
              <a:rPr lang="de-DE" dirty="0" err="1"/>
              <a:t>response</a:t>
            </a:r>
            <a:endParaRPr lang="de-DE" dirty="0"/>
          </a:p>
          <a:p>
            <a:r>
              <a:rPr lang="de-DE" dirty="0"/>
              <a:t>Snowden et. al: Neutral and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eliciting</a:t>
            </a:r>
            <a:r>
              <a:rPr lang="de-DE" dirty="0"/>
              <a:t> ‚</a:t>
            </a:r>
            <a:r>
              <a:rPr lang="de-DE" dirty="0" err="1"/>
              <a:t>fear</a:t>
            </a:r>
            <a:r>
              <a:rPr lang="de-DE" dirty="0"/>
              <a:t>‘ </a:t>
            </a:r>
            <a:r>
              <a:rPr lang="de-DE" dirty="0" err="1"/>
              <a:t>images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varying</a:t>
            </a:r>
            <a:r>
              <a:rPr lang="de-DE" dirty="0"/>
              <a:t> </a:t>
            </a:r>
            <a:r>
              <a:rPr lang="de-DE" dirty="0" err="1"/>
              <a:t>durations</a:t>
            </a:r>
            <a:endParaRPr lang="de-DE" dirty="0"/>
          </a:p>
          <a:p>
            <a:r>
              <a:rPr lang="de-DE" dirty="0"/>
              <a:t>B: BOLD </a:t>
            </a:r>
            <a:r>
              <a:rPr lang="de-DE" dirty="0" err="1"/>
              <a:t>response</a:t>
            </a:r>
            <a:r>
              <a:rPr lang="de-DE" dirty="0"/>
              <a:t> </a:t>
            </a:r>
            <a:r>
              <a:rPr lang="de-DE" dirty="0" err="1"/>
              <a:t>scales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period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finger</a:t>
            </a:r>
            <a:r>
              <a:rPr lang="de-DE" dirty="0"/>
              <a:t> </a:t>
            </a:r>
            <a:r>
              <a:rPr lang="de-DE" dirty="0" err="1"/>
              <a:t>tapping</a:t>
            </a:r>
            <a:endParaRPr lang="de-DE" dirty="0"/>
          </a:p>
          <a:p>
            <a:r>
              <a:rPr lang="de-DE" dirty="0"/>
              <a:t>Glover, 1999: </a:t>
            </a:r>
            <a:r>
              <a:rPr lang="de-DE" dirty="0" err="1"/>
              <a:t>Participants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asked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tap </a:t>
            </a:r>
            <a:r>
              <a:rPr lang="de-DE" dirty="0" err="1"/>
              <a:t>to</a:t>
            </a:r>
            <a:r>
              <a:rPr lang="de-DE" dirty="0"/>
              <a:t> a </a:t>
            </a:r>
            <a:r>
              <a:rPr lang="de-DE" dirty="0" err="1"/>
              <a:t>ceratain</a:t>
            </a:r>
            <a:r>
              <a:rPr lang="de-DE" dirty="0"/>
              <a:t> </a:t>
            </a:r>
            <a:r>
              <a:rPr lang="de-DE" dirty="0" err="1"/>
              <a:t>rythm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metronome</a:t>
            </a:r>
            <a:endParaRPr lang="de-DE" dirty="0"/>
          </a:p>
          <a:p>
            <a:r>
              <a:rPr lang="de-DE" dirty="0"/>
              <a:t>C: Fixation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influences</a:t>
            </a:r>
            <a:r>
              <a:rPr lang="de-DE" dirty="0"/>
              <a:t> ERP</a:t>
            </a:r>
          </a:p>
          <a:p>
            <a:r>
              <a:rPr lang="de-DE" dirty="0" err="1"/>
              <a:t>From</a:t>
            </a:r>
            <a:r>
              <a:rPr lang="de-DE" dirty="0"/>
              <a:t> René </a:t>
            </a:r>
            <a:r>
              <a:rPr lang="de-DE" dirty="0" err="1"/>
              <a:t>paper</a:t>
            </a:r>
            <a:r>
              <a:rPr lang="de-DE" dirty="0"/>
              <a:t> </a:t>
            </a:r>
            <a:r>
              <a:rPr lang="de-DE" dirty="0" err="1"/>
              <a:t>itself</a:t>
            </a:r>
            <a:r>
              <a:rPr lang="de-DE" dirty="0"/>
              <a:t>, </a:t>
            </a:r>
            <a:r>
              <a:rPr lang="de-DE" dirty="0" err="1"/>
              <a:t>fixation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on </a:t>
            </a:r>
            <a:r>
              <a:rPr lang="de-DE" dirty="0" err="1"/>
              <a:t>fixation</a:t>
            </a:r>
            <a:r>
              <a:rPr lang="de-DE" dirty="0"/>
              <a:t> ERP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E8B08-EAF3-4262-87F7-B5CA32CC1351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51761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E8B08-EAF3-4262-87F7-B5CA32CC1351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6416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Cluster </a:t>
            </a:r>
            <a:r>
              <a:rPr lang="de-DE" dirty="0" err="1"/>
              <a:t>depth</a:t>
            </a:r>
            <a:r>
              <a:rPr lang="de-DE" dirty="0"/>
              <a:t> </a:t>
            </a:r>
            <a:r>
              <a:rPr lang="de-DE" dirty="0" err="1"/>
              <a:t>test</a:t>
            </a:r>
            <a:endParaRPr lang="de-DE" dirty="0"/>
          </a:p>
          <a:p>
            <a:r>
              <a:rPr lang="de-DE" dirty="0"/>
              <a:t>	</a:t>
            </a:r>
            <a:r>
              <a:rPr lang="de-DE" dirty="0" err="1"/>
              <a:t>cluster</a:t>
            </a:r>
            <a:r>
              <a:rPr lang="de-DE" dirty="0"/>
              <a:t> </a:t>
            </a:r>
            <a:r>
              <a:rPr lang="de-DE" dirty="0" err="1"/>
              <a:t>threshold</a:t>
            </a:r>
            <a:r>
              <a:rPr lang="de-DE" dirty="0"/>
              <a:t>: 95th </a:t>
            </a:r>
            <a:r>
              <a:rPr lang="de-DE" dirty="0" err="1"/>
              <a:t>percentile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student</a:t>
            </a:r>
            <a:r>
              <a:rPr lang="de-DE" dirty="0"/>
              <a:t> t-distribution</a:t>
            </a:r>
          </a:p>
          <a:p>
            <a:r>
              <a:rPr lang="de-DE" dirty="0"/>
              <a:t>	5000 </a:t>
            </a:r>
            <a:r>
              <a:rPr lang="de-DE" dirty="0" err="1"/>
              <a:t>iterations</a:t>
            </a:r>
            <a:endParaRPr lang="de-DE" dirty="0"/>
          </a:p>
          <a:p>
            <a:endParaRPr lang="de-DE" dirty="0"/>
          </a:p>
          <a:p>
            <a:r>
              <a:rPr lang="de-DE" dirty="0" err="1"/>
              <a:t>Hotellings</a:t>
            </a:r>
            <a:r>
              <a:rPr lang="de-DE" dirty="0"/>
              <a:t> t </a:t>
            </a:r>
            <a:r>
              <a:rPr lang="de-DE" dirty="0" err="1"/>
              <a:t>test</a:t>
            </a:r>
            <a:endParaRPr lang="de-DE" dirty="0"/>
          </a:p>
          <a:p>
            <a:r>
              <a:rPr lang="de-DE" dirty="0"/>
              <a:t>	</a:t>
            </a:r>
            <a:r>
              <a:rPr lang="de-DE" dirty="0" err="1"/>
              <a:t>compares</a:t>
            </a:r>
            <a:r>
              <a:rPr lang="de-DE" dirty="0"/>
              <a:t> </a:t>
            </a:r>
            <a:r>
              <a:rPr lang="de-DE" dirty="0" err="1"/>
              <a:t>coefficients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covariate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 (1 </a:t>
            </a:r>
            <a:r>
              <a:rPr lang="de-DE" dirty="0" err="1"/>
              <a:t>when</a:t>
            </a:r>
            <a:r>
              <a:rPr lang="de-DE" dirty="0"/>
              <a:t> linear, 5 </a:t>
            </a:r>
            <a:r>
              <a:rPr lang="de-DE" dirty="0" err="1"/>
              <a:t>when</a:t>
            </a:r>
            <a:r>
              <a:rPr lang="de-DE" dirty="0"/>
              <a:t> non-linear)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E8B08-EAF3-4262-87F7-B5CA32CC1351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0184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conditions</a:t>
            </a:r>
            <a:r>
              <a:rPr lang="de-DE" dirty="0"/>
              <a:t> </a:t>
            </a:r>
            <a:r>
              <a:rPr lang="de-DE" dirty="0" err="1"/>
              <a:t>drastic</a:t>
            </a:r>
            <a:r>
              <a:rPr lang="de-DE" dirty="0"/>
              <a:t> in </a:t>
            </a:r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P100, N170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pronounced</a:t>
            </a:r>
            <a:r>
              <a:rPr lang="de-DE" dirty="0"/>
              <a:t> in blank </a:t>
            </a:r>
            <a:r>
              <a:rPr lang="de-DE" dirty="0" err="1"/>
              <a:t>condition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P300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(</a:t>
            </a:r>
            <a:r>
              <a:rPr lang="de-DE" dirty="0" err="1"/>
              <a:t>almost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peak</a:t>
            </a:r>
            <a:r>
              <a:rPr lang="de-DE" dirty="0"/>
              <a:t> in blank </a:t>
            </a:r>
            <a:r>
              <a:rPr lang="de-DE" dirty="0" err="1"/>
              <a:t>condition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Topoplots</a:t>
            </a:r>
            <a:r>
              <a:rPr lang="de-DE" dirty="0"/>
              <a:t>: </a:t>
            </a:r>
            <a:r>
              <a:rPr lang="de-DE" dirty="0" err="1"/>
              <a:t>similar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conditions</a:t>
            </a:r>
            <a:r>
              <a:rPr lang="de-DE" dirty="0"/>
              <a:t>,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N170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active</a:t>
            </a:r>
            <a:r>
              <a:rPr lang="de-DE" dirty="0"/>
              <a:t> in parietal </a:t>
            </a:r>
            <a:r>
              <a:rPr lang="de-DE" dirty="0" err="1"/>
              <a:t>region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-blank </a:t>
            </a:r>
            <a:r>
              <a:rPr lang="de-DE" dirty="0" err="1"/>
              <a:t>condition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E8B08-EAF3-4262-87F7-B5CA32CC1351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844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 err="1"/>
              <a:t>Mass</a:t>
            </a:r>
            <a:r>
              <a:rPr lang="de-DE" dirty="0"/>
              <a:t> univariate and </a:t>
            </a:r>
            <a:r>
              <a:rPr lang="de-DE" dirty="0" err="1"/>
              <a:t>deconvolution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almost</a:t>
            </a:r>
            <a:r>
              <a:rPr lang="de-DE" dirty="0"/>
              <a:t> </a:t>
            </a:r>
            <a:r>
              <a:rPr lang="de-DE" dirty="0" err="1"/>
              <a:t>identical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Expected</a:t>
            </a:r>
            <a:r>
              <a:rPr lang="de-DE" dirty="0"/>
              <a:t>,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littel</a:t>
            </a:r>
            <a:r>
              <a:rPr lang="de-DE" dirty="0"/>
              <a:t> </a:t>
            </a:r>
            <a:r>
              <a:rPr lang="de-DE" dirty="0" err="1"/>
              <a:t>overlap</a:t>
            </a:r>
            <a:r>
              <a:rPr lang="de-DE" dirty="0"/>
              <a:t> in blank </a:t>
            </a:r>
            <a:r>
              <a:rPr lang="de-DE" dirty="0" err="1"/>
              <a:t>condition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/>
              <a:t>All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/</a:t>
            </a:r>
            <a:r>
              <a:rPr lang="de-DE" dirty="0" err="1"/>
              <a:t>little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amplitude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components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Biggest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in </a:t>
            </a:r>
            <a:r>
              <a:rPr lang="de-DE" dirty="0" err="1"/>
              <a:t>late</a:t>
            </a:r>
            <a:r>
              <a:rPr lang="de-DE" dirty="0"/>
              <a:t> </a:t>
            </a:r>
            <a:r>
              <a:rPr lang="de-DE" dirty="0" err="1"/>
              <a:t>stage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P300 </a:t>
            </a:r>
            <a:r>
              <a:rPr lang="de-DE" dirty="0" err="1"/>
              <a:t>component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E8B08-EAF3-4262-87F7-B5CA32CC1351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1472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de-DE" dirty="0"/>
              <a:t>Much </a:t>
            </a:r>
            <a:r>
              <a:rPr lang="de-DE" dirty="0" err="1"/>
              <a:t>bigger</a:t>
            </a:r>
            <a:r>
              <a:rPr lang="de-DE" dirty="0"/>
              <a:t> </a:t>
            </a:r>
            <a:r>
              <a:rPr lang="de-DE" dirty="0" err="1"/>
              <a:t>difference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mu</a:t>
            </a:r>
            <a:r>
              <a:rPr lang="de-DE" dirty="0"/>
              <a:t> and </a:t>
            </a:r>
            <a:r>
              <a:rPr lang="de-DE" dirty="0" err="1"/>
              <a:t>deconv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Expected</a:t>
            </a:r>
            <a:r>
              <a:rPr lang="de-DE" dirty="0"/>
              <a:t>, </a:t>
            </a:r>
            <a:r>
              <a:rPr lang="de-DE" dirty="0" err="1"/>
              <a:t>since</a:t>
            </a:r>
            <a:r>
              <a:rPr lang="de-DE" dirty="0"/>
              <a:t> </a:t>
            </a:r>
            <a:r>
              <a:rPr lang="de-DE" dirty="0" err="1"/>
              <a:t>overlap</a:t>
            </a:r>
            <a:r>
              <a:rPr lang="de-DE" dirty="0"/>
              <a:t> </a:t>
            </a:r>
            <a:r>
              <a:rPr lang="de-DE" dirty="0" err="1"/>
              <a:t>present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Mass</a:t>
            </a:r>
            <a:r>
              <a:rPr lang="de-DE" dirty="0"/>
              <a:t> univariate, non-linear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strong </a:t>
            </a:r>
            <a:r>
              <a:rPr lang="de-DE" dirty="0" err="1"/>
              <a:t>peak</a:t>
            </a:r>
            <a:r>
              <a:rPr lang="de-DE" dirty="0"/>
              <a:t> </a:t>
            </a:r>
            <a:r>
              <a:rPr lang="de-DE" dirty="0" err="1"/>
              <a:t>before</a:t>
            </a:r>
            <a:r>
              <a:rPr lang="de-DE" dirty="0"/>
              <a:t> P300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short</a:t>
            </a:r>
            <a:r>
              <a:rPr lang="de-DE" dirty="0"/>
              <a:t> </a:t>
            </a:r>
            <a:r>
              <a:rPr lang="de-DE" dirty="0" err="1"/>
              <a:t>stimulus</a:t>
            </a:r>
            <a:r>
              <a:rPr lang="de-DE" dirty="0"/>
              <a:t> </a:t>
            </a:r>
            <a:r>
              <a:rPr lang="de-DE" dirty="0" err="1"/>
              <a:t>durations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questionable</a:t>
            </a:r>
            <a:r>
              <a:rPr lang="de-DE" dirty="0"/>
              <a:t> </a:t>
            </a:r>
            <a:r>
              <a:rPr lang="de-DE" dirty="0" err="1"/>
              <a:t>peak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P100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following</a:t>
            </a:r>
            <a:r>
              <a:rPr lang="de-DE" dirty="0"/>
              <a:t> </a:t>
            </a:r>
            <a:r>
              <a:rPr lang="de-DE" dirty="0" err="1"/>
              <a:t>stimulus</a:t>
            </a:r>
            <a:endParaRPr lang="de-DE" dirty="0"/>
          </a:p>
          <a:p>
            <a:pPr marL="171450" indent="-171450">
              <a:buFontTx/>
              <a:buChar char="-"/>
            </a:pPr>
            <a:r>
              <a:rPr lang="de-DE" dirty="0" err="1"/>
              <a:t>Deconvolution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: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significant</a:t>
            </a:r>
            <a:r>
              <a:rPr lang="de-DE" dirty="0"/>
              <a:t> </a:t>
            </a:r>
            <a:r>
              <a:rPr lang="de-DE" dirty="0" err="1"/>
              <a:t>effect</a:t>
            </a:r>
            <a:r>
              <a:rPr lang="de-DE" dirty="0"/>
              <a:t> on </a:t>
            </a:r>
            <a:r>
              <a:rPr lang="de-DE" dirty="0" err="1"/>
              <a:t>component</a:t>
            </a:r>
            <a:r>
              <a:rPr lang="de-DE" dirty="0"/>
              <a:t> </a:t>
            </a:r>
            <a:r>
              <a:rPr lang="de-DE" dirty="0" err="1"/>
              <a:t>peaks</a:t>
            </a:r>
            <a:r>
              <a:rPr lang="de-DE" dirty="0"/>
              <a:t> but on </a:t>
            </a:r>
            <a:r>
              <a:rPr lang="de-DE" dirty="0" err="1"/>
              <a:t>late</a:t>
            </a:r>
            <a:r>
              <a:rPr lang="de-DE" dirty="0"/>
              <a:t> </a:t>
            </a:r>
            <a:r>
              <a:rPr lang="de-DE" dirty="0" err="1"/>
              <a:t>stage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P300 (300-500 </a:t>
            </a:r>
            <a:r>
              <a:rPr lang="de-DE" dirty="0" err="1"/>
              <a:t>ms</a:t>
            </a:r>
            <a:r>
              <a:rPr lang="de-DE" dirty="0"/>
              <a:t>)</a:t>
            </a:r>
          </a:p>
          <a:p>
            <a:pPr marL="171450" indent="-171450">
              <a:buFontTx/>
              <a:buChar char="-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E8B08-EAF3-4262-87F7-B5CA32CC1351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55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Blank </a:t>
            </a:r>
            <a:r>
              <a:rPr lang="de-DE" dirty="0" err="1"/>
              <a:t>condition</a:t>
            </a:r>
            <a:r>
              <a:rPr lang="de-DE" dirty="0"/>
              <a:t>: </a:t>
            </a:r>
            <a:r>
              <a:rPr lang="de-DE" dirty="0" err="1"/>
              <a:t>mu</a:t>
            </a:r>
            <a:r>
              <a:rPr lang="de-DE" dirty="0"/>
              <a:t> and </a:t>
            </a:r>
            <a:r>
              <a:rPr lang="de-DE" dirty="0" err="1"/>
              <a:t>deconv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very</a:t>
            </a:r>
            <a:r>
              <a:rPr lang="de-DE" dirty="0"/>
              <a:t> </a:t>
            </a:r>
            <a:r>
              <a:rPr lang="de-DE" dirty="0" err="1"/>
              <a:t>similar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-blank: also </a:t>
            </a:r>
            <a:r>
              <a:rPr lang="de-DE" dirty="0" err="1"/>
              <a:t>similar</a:t>
            </a:r>
            <a:r>
              <a:rPr lang="de-DE" dirty="0"/>
              <a:t> but </a:t>
            </a:r>
            <a:r>
              <a:rPr lang="de-DE" dirty="0" err="1"/>
              <a:t>difference</a:t>
            </a:r>
            <a:r>
              <a:rPr lang="de-DE" dirty="0"/>
              <a:t> visible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E8B08-EAF3-4262-87F7-B5CA32CC1351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250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E8B08-EAF3-4262-87F7-B5CA32CC1351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4513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Hotelling‘s</a:t>
            </a:r>
            <a:r>
              <a:rPr lang="de-DE" dirty="0"/>
              <a:t> T </a:t>
            </a:r>
            <a:r>
              <a:rPr lang="de-DE" dirty="0" err="1"/>
              <a:t>test</a:t>
            </a:r>
            <a:r>
              <a:rPr lang="de-DE" dirty="0"/>
              <a:t>: </a:t>
            </a:r>
            <a:r>
              <a:rPr lang="de-DE" dirty="0" err="1"/>
              <a:t>Bonferroni</a:t>
            </a:r>
            <a:r>
              <a:rPr lang="de-DE" dirty="0"/>
              <a:t>, </a:t>
            </a:r>
            <a:r>
              <a:rPr lang="de-DE" dirty="0" err="1"/>
              <a:t>Benjamini</a:t>
            </a:r>
            <a:r>
              <a:rPr lang="de-DE" dirty="0"/>
              <a:t>-Hochberg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0E8B08-EAF3-4262-87F7-B5CA32CC1351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365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>
            <a:spLocks noGrp="1"/>
          </p:cNvSpPr>
          <p:nvPr>
            <p:ph type="title"/>
          </p:nvPr>
        </p:nvSpPr>
        <p:spPr>
          <a:xfrm>
            <a:off x="892974" y="2293290"/>
            <a:ext cx="4952687" cy="19347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560" b="1" cap="all" baseline="0">
                <a:solidFill>
                  <a:srgbClr val="273845"/>
                </a:solidFill>
                <a:latin typeface="HelveticaNeueLT Pro 65 Md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dirty="0"/>
          </a:p>
        </p:txBody>
      </p:sp>
      <p:sp>
        <p:nvSpPr>
          <p:cNvPr id="12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27864" y="2946804"/>
            <a:ext cx="2603485" cy="1980981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2pPr>
            <a:lvl3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3pPr>
            <a:lvl4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4pPr>
            <a:lvl5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5pPr>
          </a:lstStyle>
          <a:p>
            <a:r>
              <a:rPr dirty="0" err="1"/>
              <a:t>Textebene</a:t>
            </a:r>
            <a:r>
              <a:rPr dirty="0"/>
              <a:t> 1</a:t>
            </a:r>
          </a:p>
          <a:p>
            <a:pPr lvl="1"/>
            <a:r>
              <a:rPr dirty="0" err="1"/>
              <a:t>Textebene</a:t>
            </a:r>
            <a:r>
              <a:rPr dirty="0"/>
              <a:t> 2</a:t>
            </a:r>
          </a:p>
          <a:p>
            <a:pPr lvl="2"/>
            <a:r>
              <a:rPr dirty="0" err="1"/>
              <a:t>Textebene</a:t>
            </a:r>
            <a:r>
              <a:rPr dirty="0"/>
              <a:t> 3</a:t>
            </a:r>
          </a:p>
          <a:p>
            <a:pPr lvl="3"/>
            <a:r>
              <a:rPr dirty="0" err="1"/>
              <a:t>Textebene</a:t>
            </a:r>
            <a:r>
              <a:rPr dirty="0"/>
              <a:t> 4</a:t>
            </a:r>
          </a:p>
          <a:p>
            <a:pPr lvl="4"/>
            <a:r>
              <a:rPr dirty="0" err="1"/>
              <a:t>Textebene</a:t>
            </a:r>
            <a:r>
              <a:rPr dirty="0"/>
              <a:t> 5</a:t>
            </a:r>
          </a:p>
        </p:txBody>
      </p:sp>
      <p:sp>
        <p:nvSpPr>
          <p:cNvPr id="1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543028" y="4466294"/>
            <a:ext cx="2338222" cy="348653"/>
          </a:xfrm>
          <a:prstGeom prst="rect">
            <a:avLst/>
          </a:prstGeom>
        </p:spPr>
        <p:txBody>
          <a:bodyPr/>
          <a:lstStyle>
            <a:lvl1pPr>
              <a:defRPr sz="1266" cap="small" baseline="0">
                <a:latin typeface="HelveticaNeueLT Pro 45 Lt" panose="020B0403020202020204" pitchFamily="34" charset="0"/>
              </a:defRPr>
            </a:lvl1pPr>
          </a:lstStyle>
          <a:p>
            <a:fld id="{2F409A4A-3EAD-49DF-8AE6-0D7DCFE7506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50747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358637"/>
            <a:ext cx="6858000" cy="1989667"/>
          </a:xfrm>
        </p:spPr>
        <p:txBody>
          <a:bodyPr anchor="b"/>
          <a:lstStyle>
            <a:lvl1pPr algn="ctr">
              <a:defRPr sz="3375">
                <a:latin typeface="Franklin Gothic Book" panose="020B05030201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25039"/>
            <a:ext cx="6858000" cy="10937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>
                    <a:lumMod val="85000"/>
                  </a:schemeClr>
                </a:solidFill>
                <a:latin typeface="Franklin Gothic Book" panose="020B0503020102020204" pitchFamily="34" charset="0"/>
              </a:defRPr>
            </a:lvl1pPr>
            <a:lvl2pPr marL="257162" indent="0" algn="ctr">
              <a:buNone/>
              <a:defRPr sz="1125"/>
            </a:lvl2pPr>
            <a:lvl3pPr marL="514325" indent="0" algn="ctr">
              <a:buNone/>
              <a:defRPr sz="1013"/>
            </a:lvl3pPr>
            <a:lvl4pPr marL="771487" indent="0" algn="ctr">
              <a:buNone/>
              <a:defRPr sz="900"/>
            </a:lvl4pPr>
            <a:lvl5pPr marL="1028649" indent="0" algn="ctr">
              <a:buNone/>
              <a:defRPr sz="900"/>
            </a:lvl5pPr>
            <a:lvl6pPr marL="1285811" indent="0" algn="ctr">
              <a:buNone/>
              <a:defRPr sz="900"/>
            </a:lvl6pPr>
            <a:lvl7pPr marL="1542973" indent="0" algn="ctr">
              <a:buNone/>
              <a:defRPr sz="900"/>
            </a:lvl7pPr>
            <a:lvl8pPr marL="1800135" indent="0" algn="ctr">
              <a:buNone/>
              <a:defRPr sz="900"/>
            </a:lvl8pPr>
            <a:lvl9pPr marL="2057297" indent="0" algn="ctr">
              <a:buNone/>
              <a:defRPr sz="900"/>
            </a:lvl9pPr>
          </a:lstStyle>
          <a:p>
            <a:r>
              <a:rPr lang="de-DE" dirty="0"/>
              <a:t>Benedikt Ehinger</a:t>
            </a:r>
          </a:p>
          <a:p>
            <a:r>
              <a:rPr lang="de-DE" dirty="0"/>
              <a:t>Institute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Cognitive</a:t>
            </a:r>
            <a:r>
              <a:rPr lang="de-DE" dirty="0"/>
              <a:t> Science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01005" y="525904"/>
            <a:ext cx="1087655" cy="304271"/>
          </a:xfrm>
        </p:spPr>
        <p:txBody>
          <a:bodyPr/>
          <a:lstStyle/>
          <a:p>
            <a:fld id="{F16B0610-2A41-4147-9028-430DB42FBA95}" type="datetimeFigureOut">
              <a:rPr lang="de-DE" smtClean="0"/>
              <a:t>16.12.25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420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214338"/>
            <a:ext cx="7886700" cy="53557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39543"/>
            <a:ext cx="7886700" cy="362611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5296966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248351" y="682867"/>
            <a:ext cx="6807994" cy="387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8617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9144000" cy="12340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028950" y="5296966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4953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2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6334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2"/>
            <a:ext cx="7887146" cy="31621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000" cap="small" baseline="0">
                <a:latin typeface="Myriad Pro" panose="020B0503030403020204" pitchFamily="34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600"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111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2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0460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1" y="0"/>
            <a:ext cx="9144000" cy="5715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25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18090"/>
            <a:ext cx="7886700" cy="535571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39543"/>
            <a:ext cx="7886700" cy="362611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56353" y="749911"/>
            <a:ext cx="1087655" cy="304271"/>
          </a:xfrm>
          <a:prstGeom prst="rect">
            <a:avLst/>
          </a:prstGeom>
        </p:spPr>
        <p:txBody>
          <a:bodyPr/>
          <a:lstStyle/>
          <a:p>
            <a:fld id="{F16B0610-2A41-4147-9028-430DB42FBA95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5296974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841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2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7818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 Institute Bild im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4" y="393986"/>
            <a:ext cx="2136071" cy="431998"/>
          </a:xfrm>
          <a:prstGeom prst="rect">
            <a:avLst/>
          </a:prstGeom>
        </p:spPr>
      </p:pic>
      <p:sp>
        <p:nvSpPr>
          <p:cNvPr id="6" name="Rechteck 5"/>
          <p:cNvSpPr/>
          <p:nvPr/>
        </p:nvSpPr>
        <p:spPr>
          <a:xfrm>
            <a:off x="0" y="1407605"/>
            <a:ext cx="9144000" cy="4307399"/>
          </a:xfrm>
          <a:prstGeom prst="rect">
            <a:avLst/>
          </a:prstGeom>
          <a:solidFill>
            <a:srgbClr val="3E444C"/>
          </a:solidFill>
          <a:ln>
            <a:solidFill>
              <a:srgbClr val="3E44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80" dirty="0">
              <a:latin typeface="Verdana Pro" panose="020B0604030504040204" pitchFamily="34" charset="0"/>
            </a:endParaRP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5"/>
          </p:nvPr>
        </p:nvSpPr>
        <p:spPr>
          <a:xfrm>
            <a:off x="4924204" y="713127"/>
            <a:ext cx="3938807" cy="39120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88205" y="1618407"/>
            <a:ext cx="4536000" cy="2929317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890" b="1">
                <a:solidFill>
                  <a:schemeClr val="bg1"/>
                </a:solidFill>
              </a:defRPr>
            </a:lvl1pPr>
            <a:lvl2pPr marL="118941" indent="0">
              <a:buFontTx/>
              <a:buNone/>
              <a:defRPr sz="1890" b="1">
                <a:solidFill>
                  <a:schemeClr val="bg1"/>
                </a:solidFill>
              </a:defRPr>
            </a:lvl2pPr>
            <a:lvl3pPr marL="243239" indent="0">
              <a:buFontTx/>
              <a:buNone/>
              <a:defRPr sz="1890" b="1">
                <a:solidFill>
                  <a:schemeClr val="bg1"/>
                </a:solidFill>
              </a:defRPr>
            </a:lvl3pPr>
            <a:lvl4pPr marL="362180" indent="0">
              <a:buFontTx/>
              <a:buNone/>
              <a:defRPr sz="1890" b="1">
                <a:solidFill>
                  <a:schemeClr val="bg1"/>
                </a:solidFill>
              </a:defRPr>
            </a:lvl4pPr>
            <a:lvl5pPr marL="486478" indent="0">
              <a:buFontTx/>
              <a:buNone/>
              <a:defRPr sz="189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88940" y="4625216"/>
            <a:ext cx="4535487" cy="65405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8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08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08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08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080">
                <a:solidFill>
                  <a:schemeClr val="bg1"/>
                </a:solidFill>
              </a:defRPr>
            </a:lvl5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  <p:sp>
        <p:nvSpPr>
          <p:cNvPr id="9" name="bk object 16">
            <a:extLst>
              <a:ext uri="{FF2B5EF4-FFF2-40B4-BE49-F238E27FC236}">
                <a16:creationId xmlns:a16="http://schemas.microsoft.com/office/drawing/2014/main" id="{9F06F840-C43E-4E82-A9AB-916CF237BE3C}"/>
              </a:ext>
            </a:extLst>
          </p:cNvPr>
          <p:cNvSpPr/>
          <p:nvPr userDrawn="1"/>
        </p:nvSpPr>
        <p:spPr>
          <a:xfrm>
            <a:off x="7094551" y="95898"/>
            <a:ext cx="1982235" cy="2923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222FC9B-BDF1-46B4-930E-DC25A1BB937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708" y="421293"/>
            <a:ext cx="1034078" cy="293951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2CF37149-6F6F-47E4-9763-516B76A5D08C}"/>
              </a:ext>
            </a:extLst>
          </p:cNvPr>
          <p:cNvSpPr txBox="1"/>
          <p:nvPr userDrawn="1"/>
        </p:nvSpPr>
        <p:spPr>
          <a:xfrm>
            <a:off x="859243" y="678519"/>
            <a:ext cx="32588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>
                <a:latin typeface="Univers" panose="020B0503020202020204" pitchFamily="34" charset="0"/>
              </a:rPr>
              <a:t>Computational Cognitive Science</a:t>
            </a:r>
          </a:p>
        </p:txBody>
      </p:sp>
    </p:spTree>
    <p:extLst>
      <p:ext uri="{BB962C8B-B14F-4D97-AF65-F5344CB8AC3E}">
        <p14:creationId xmlns:p14="http://schemas.microsoft.com/office/powerpoint/2010/main" val="319556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D00244-A3F4-4C44-971D-913FE104B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B6E2312-BFAF-47CA-9616-30BA5667D8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68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2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8" indent="0" algn="ctr">
              <a:buNone/>
              <a:defRPr sz="9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93180C-4102-4D35-9C5A-F0854A6FD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16.12.25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1B7749-E39E-49DA-A071-7155A706C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7D8397-6656-42A8-B96A-58D9A5ED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534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522E6E-49B5-4103-8F45-47ECA7C15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7F001A-4A3F-4041-B3A7-84989E415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3D1D12-3A64-486D-BEF9-12987D785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3DADA46-566B-4297-92E0-35A29633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05EB86-581B-40CB-AA86-82C27527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8669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2BCBEE-B756-40CC-A424-243D2625F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6"/>
            <a:ext cx="7886700" cy="2377281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0DD5B8C-9562-43D4-85E7-A7688CBF0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5"/>
            <a:ext cx="7886700" cy="1250156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68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37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0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6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43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12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18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34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870FCD-B8A5-47E7-9B17-1E98669F4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BEE4032-5942-423E-B589-4502DA194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53F83A-8EEC-4249-B00A-661C9C4E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53477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A76829-4F77-4318-902F-7E2B3081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3E13FB-5921-47D3-945C-301194E68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4495F1-51FA-4630-A9DF-42548EA91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6D3E9A-5651-4314-81EC-323848C8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6D9CD41-0F2E-4E02-AF61-460CE07CF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D123BA-F50B-4858-8753-6F0B80DD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492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A53D02-C073-40C8-9B47-F5AC3B664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4"/>
            <a:ext cx="7886700" cy="1104636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15D3119-776C-4817-A06F-41E058B21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4C9747-DC6E-4580-A1EF-FBD570C53C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95EB59-5835-4745-BC49-C17649D1F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2" y="1400969"/>
            <a:ext cx="3887391" cy="686593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68" indent="0">
              <a:buNone/>
              <a:defRPr sz="1125" b="1"/>
            </a:lvl2pPr>
            <a:lvl3pPr marL="514337" indent="0">
              <a:buNone/>
              <a:defRPr sz="1013" b="1"/>
            </a:lvl3pPr>
            <a:lvl4pPr marL="771506" indent="0">
              <a:buNone/>
              <a:defRPr sz="900" b="1"/>
            </a:lvl4pPr>
            <a:lvl5pPr marL="1028675" indent="0">
              <a:buNone/>
              <a:defRPr sz="900" b="1"/>
            </a:lvl5pPr>
            <a:lvl6pPr marL="1285843" indent="0">
              <a:buNone/>
              <a:defRPr sz="900" b="1"/>
            </a:lvl6pPr>
            <a:lvl7pPr marL="1543012" indent="0">
              <a:buNone/>
              <a:defRPr sz="900" b="1"/>
            </a:lvl7pPr>
            <a:lvl8pPr marL="1800180" indent="0">
              <a:buNone/>
              <a:defRPr sz="900" b="1"/>
            </a:lvl8pPr>
            <a:lvl9pPr marL="2057348" indent="0">
              <a:buNone/>
              <a:defRPr sz="9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ACABD20-3021-48E1-A51F-31350E036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2" y="2087563"/>
            <a:ext cx="3887391" cy="30704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157A61F-BF17-4775-BF68-6BE4B375E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878ED7-EF6C-41CC-B8B4-068371850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022E264-5F40-49D2-94FA-88A08A1C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5026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906473-7ABC-4B8C-8F64-4A4A954FB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05567D-EA3C-4B86-B85D-ACC437DCD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85235E6-EC24-4549-914C-7DDC81A86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C059B5C-2371-4605-9BE5-9E2DFD62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63317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00CD95D-2451-4A50-8C41-E25D035A9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DD4ABC6-FBAE-4AFB-B788-AA9EBE010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627B132-4086-423D-BE76-D6B977E67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AFD7652-5BBB-4060-98A7-0FA8DADAA1B8}"/>
              </a:ext>
            </a:extLst>
          </p:cNvPr>
          <p:cNvSpPr/>
          <p:nvPr/>
        </p:nvSpPr>
        <p:spPr>
          <a:xfrm>
            <a:off x="0" y="0"/>
            <a:ext cx="9144000" cy="12340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02133DA-40CF-430B-9F73-3FDA86D44811}"/>
              </a:ext>
            </a:extLst>
          </p:cNvPr>
          <p:cNvSpPr/>
          <p:nvPr userDrawn="1"/>
        </p:nvSpPr>
        <p:spPr>
          <a:xfrm>
            <a:off x="0" y="0"/>
            <a:ext cx="9144000" cy="12340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</p:spTree>
    <p:extLst>
      <p:ext uri="{BB962C8B-B14F-4D97-AF65-F5344CB8AC3E}">
        <p14:creationId xmlns:p14="http://schemas.microsoft.com/office/powerpoint/2010/main" val="42316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7B2248-3FDA-4283-8CAD-4A5B643AD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594E04-C1F0-45EB-8EDA-B6A4D1DEF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1B57B88-8814-40D9-8739-B75F8CF13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900"/>
            </a:lvl1pPr>
            <a:lvl2pPr marL="257168" indent="0">
              <a:buNone/>
              <a:defRPr sz="788"/>
            </a:lvl2pPr>
            <a:lvl3pPr marL="514337" indent="0">
              <a:buNone/>
              <a:defRPr sz="675"/>
            </a:lvl3pPr>
            <a:lvl4pPr marL="771506" indent="0">
              <a:buNone/>
              <a:defRPr sz="563"/>
            </a:lvl4pPr>
            <a:lvl5pPr marL="1028675" indent="0">
              <a:buNone/>
              <a:defRPr sz="563"/>
            </a:lvl5pPr>
            <a:lvl6pPr marL="1285843" indent="0">
              <a:buNone/>
              <a:defRPr sz="563"/>
            </a:lvl6pPr>
            <a:lvl7pPr marL="1543012" indent="0">
              <a:buNone/>
              <a:defRPr sz="563"/>
            </a:lvl7pPr>
            <a:lvl8pPr marL="1800180" indent="0">
              <a:buNone/>
              <a:defRPr sz="563"/>
            </a:lvl8pPr>
            <a:lvl9pPr marL="2057348" indent="0">
              <a:buNone/>
              <a:defRPr sz="5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B869EA1-CA93-42F0-843E-1C0B58AB2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2DA248-53C7-40EA-8A4E-E5DF2418E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615843-9E0F-4683-BD4E-53CC62690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06972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9EE95-4956-4F1B-93C2-62F7EA406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528D31-7227-4ADC-9DF7-073F6D44F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6"/>
            <a:ext cx="4629150" cy="4061354"/>
          </a:xfrm>
        </p:spPr>
        <p:txBody>
          <a:bodyPr/>
          <a:lstStyle>
            <a:lvl1pPr marL="0" indent="0">
              <a:buNone/>
              <a:defRPr sz="1800"/>
            </a:lvl1pPr>
            <a:lvl2pPr marL="257168" indent="0">
              <a:buNone/>
              <a:defRPr sz="1575"/>
            </a:lvl2pPr>
            <a:lvl3pPr marL="514337" indent="0">
              <a:buNone/>
              <a:defRPr sz="1350"/>
            </a:lvl3pPr>
            <a:lvl4pPr marL="771506" indent="0">
              <a:buNone/>
              <a:defRPr sz="1125"/>
            </a:lvl4pPr>
            <a:lvl5pPr marL="1028675" indent="0">
              <a:buNone/>
              <a:defRPr sz="1125"/>
            </a:lvl5pPr>
            <a:lvl6pPr marL="1285843" indent="0">
              <a:buNone/>
              <a:defRPr sz="1125"/>
            </a:lvl6pPr>
            <a:lvl7pPr marL="1543012" indent="0">
              <a:buNone/>
              <a:defRPr sz="1125"/>
            </a:lvl7pPr>
            <a:lvl8pPr marL="1800180" indent="0">
              <a:buNone/>
              <a:defRPr sz="1125"/>
            </a:lvl8pPr>
            <a:lvl9pPr marL="2057348" indent="0">
              <a:buNone/>
              <a:defRPr sz="1125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B65966C-D907-4F8E-9DF2-F55ED426A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900"/>
            </a:lvl1pPr>
            <a:lvl2pPr marL="257168" indent="0">
              <a:buNone/>
              <a:defRPr sz="788"/>
            </a:lvl2pPr>
            <a:lvl3pPr marL="514337" indent="0">
              <a:buNone/>
              <a:defRPr sz="675"/>
            </a:lvl3pPr>
            <a:lvl4pPr marL="771506" indent="0">
              <a:buNone/>
              <a:defRPr sz="563"/>
            </a:lvl4pPr>
            <a:lvl5pPr marL="1028675" indent="0">
              <a:buNone/>
              <a:defRPr sz="563"/>
            </a:lvl5pPr>
            <a:lvl6pPr marL="1285843" indent="0">
              <a:buNone/>
              <a:defRPr sz="563"/>
            </a:lvl6pPr>
            <a:lvl7pPr marL="1543012" indent="0">
              <a:buNone/>
              <a:defRPr sz="563"/>
            </a:lvl7pPr>
            <a:lvl8pPr marL="1800180" indent="0">
              <a:buNone/>
              <a:defRPr sz="563"/>
            </a:lvl8pPr>
            <a:lvl9pPr marL="2057348" indent="0">
              <a:buNone/>
              <a:defRPr sz="56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1A3C284-4E08-49E2-BF25-21C590AD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847D3E-D8EC-4651-AD80-D7C97C13F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3FFE08-B256-4014-88BC-935183157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45198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F61F50-7A0E-4706-9F58-2B95D956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06AB01F-0C4C-4294-9733-8524FE5DF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E9E356-AB8D-4F03-92B1-3E49435FB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C5BCB4-C252-4887-B25B-E29480378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156F96-BC00-41DA-9AC9-01B28CF3D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0080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2AF84DA-DD68-450E-9487-2F27E9CE7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04271"/>
            <a:ext cx="1971675" cy="484319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09C8D28-E56F-4F9B-902E-7ECA728CF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2" y="304271"/>
            <a:ext cx="5800725" cy="484319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97B2B1-67A1-4AB5-A2A2-29A52A17D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84961-95F9-4150-895C-A2B8F9C8F1C6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D0A43A-2B2F-4C38-891F-E92DB2FA5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82262B-28CA-4D34-ACE7-F86BB689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12172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1"/>
            <a:ext cx="788714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Myriad Pro" panose="020B0503030403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21852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10907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0"/>
            <a:ext cx="788714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Myriad Pro" panose="020B0503030403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31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5593494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>
            <a:spLocks noGrp="1"/>
          </p:cNvSpPr>
          <p:nvPr>
            <p:ph type="title"/>
          </p:nvPr>
        </p:nvSpPr>
        <p:spPr>
          <a:xfrm>
            <a:off x="892972" y="2293286"/>
            <a:ext cx="4952687" cy="19347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560" b="1" cap="all" baseline="0">
                <a:solidFill>
                  <a:srgbClr val="273845"/>
                </a:solidFill>
                <a:latin typeface="HelveticaNeueLT Pro 65 Md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dirty="0"/>
          </a:p>
        </p:txBody>
      </p:sp>
      <p:sp>
        <p:nvSpPr>
          <p:cNvPr id="12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27862" y="2946801"/>
            <a:ext cx="2603485" cy="1980981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2pPr>
            <a:lvl3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3pPr>
            <a:lvl4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4pPr>
            <a:lvl5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5pPr>
          </a:lstStyle>
          <a:p>
            <a:r>
              <a:rPr dirty="0" err="1"/>
              <a:t>Textebene</a:t>
            </a:r>
            <a:r>
              <a:rPr dirty="0"/>
              <a:t> 1</a:t>
            </a:r>
          </a:p>
          <a:p>
            <a:pPr lvl="1"/>
            <a:r>
              <a:rPr dirty="0" err="1"/>
              <a:t>Textebene</a:t>
            </a:r>
            <a:r>
              <a:rPr dirty="0"/>
              <a:t> 2</a:t>
            </a:r>
          </a:p>
          <a:p>
            <a:pPr lvl="2"/>
            <a:r>
              <a:rPr dirty="0" err="1"/>
              <a:t>Textebene</a:t>
            </a:r>
            <a:r>
              <a:rPr dirty="0"/>
              <a:t> 3</a:t>
            </a:r>
          </a:p>
          <a:p>
            <a:pPr lvl="3"/>
            <a:r>
              <a:rPr dirty="0" err="1"/>
              <a:t>Textebene</a:t>
            </a:r>
            <a:r>
              <a:rPr dirty="0"/>
              <a:t> 4</a:t>
            </a:r>
          </a:p>
          <a:p>
            <a:pPr lvl="4"/>
            <a:r>
              <a:rPr dirty="0" err="1"/>
              <a:t>Textebene</a:t>
            </a:r>
            <a:r>
              <a:rPr dirty="0"/>
              <a:t> 5</a:t>
            </a:r>
          </a:p>
        </p:txBody>
      </p:sp>
      <p:sp>
        <p:nvSpPr>
          <p:cNvPr id="1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543028" y="4466294"/>
            <a:ext cx="2338222" cy="348653"/>
          </a:xfrm>
          <a:prstGeom prst="rect">
            <a:avLst/>
          </a:prstGeom>
        </p:spPr>
        <p:txBody>
          <a:bodyPr/>
          <a:lstStyle>
            <a:lvl1pPr>
              <a:defRPr sz="1266" cap="small" baseline="0">
                <a:latin typeface="HelveticaNeueLT Pro 45 Lt" panose="020B0403020202020204" pitchFamily="34" charset="0"/>
              </a:defRPr>
            </a:lvl1pPr>
          </a:lstStyle>
          <a:p>
            <a:fld id="{2F409A4A-3EAD-49DF-8AE6-0D7DCFE7506D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8316233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358637"/>
            <a:ext cx="6858000" cy="1989667"/>
          </a:xfrm>
        </p:spPr>
        <p:txBody>
          <a:bodyPr anchor="b"/>
          <a:lstStyle>
            <a:lvl1pPr algn="ctr">
              <a:defRPr sz="3375">
                <a:latin typeface="Franklin Gothic Book" panose="020B05030201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25036"/>
            <a:ext cx="6858000" cy="10937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>
                    <a:lumMod val="85000"/>
                  </a:schemeClr>
                </a:solidFill>
                <a:latin typeface="Franklin Gothic Book" panose="020B0503020102020204" pitchFamily="34" charset="0"/>
              </a:defRPr>
            </a:lvl1pPr>
            <a:lvl2pPr marL="257168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2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8" indent="0" algn="ctr">
              <a:buNone/>
              <a:defRPr sz="900"/>
            </a:lvl9pPr>
          </a:lstStyle>
          <a:p>
            <a:r>
              <a:rPr lang="de-DE" dirty="0"/>
              <a:t>Benedikt Ehinger</a:t>
            </a:r>
          </a:p>
          <a:p>
            <a:r>
              <a:rPr lang="de-DE" dirty="0"/>
              <a:t>Institute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Cognitive</a:t>
            </a:r>
            <a:r>
              <a:rPr lang="de-DE" dirty="0"/>
              <a:t> Science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01003" y="525901"/>
            <a:ext cx="1087655" cy="304271"/>
          </a:xfrm>
        </p:spPr>
        <p:txBody>
          <a:bodyPr/>
          <a:lstStyle/>
          <a:p>
            <a:fld id="{F16B0610-2A41-4147-9028-430DB42FBA95}" type="datetimeFigureOut">
              <a:rPr lang="de-DE" smtClean="0"/>
              <a:t>16.12.25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290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214335"/>
            <a:ext cx="7886700" cy="53557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39543"/>
            <a:ext cx="7886700" cy="362611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5296962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248351" y="682867"/>
            <a:ext cx="6807994" cy="387615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</a:schemeClr>
                </a:solidFill>
                <a:latin typeface="Franklin Gothic Book" panose="020B05030201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3090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0" y="0"/>
            <a:ext cx="9144000" cy="12340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0610-2A41-4147-9028-430DB42FBA95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028950" y="5296962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622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65533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1"/>
            <a:ext cx="788714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Myriad Pro" panose="020B0503030403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3401179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82971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1" y="0"/>
            <a:ext cx="9144000" cy="5715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25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18087"/>
            <a:ext cx="7886700" cy="535571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39543"/>
            <a:ext cx="7886700" cy="362611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56351" y="749907"/>
            <a:ext cx="1087655" cy="304271"/>
          </a:xfrm>
          <a:prstGeom prst="rect">
            <a:avLst/>
          </a:prstGeom>
        </p:spPr>
        <p:txBody>
          <a:bodyPr/>
          <a:lstStyle/>
          <a:p>
            <a:fld id="{F16B0610-2A41-4147-9028-430DB42FBA95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5296971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606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774F300-0503-4323-B224-F985EC84B7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F6F4E-9BE2-432C-88B0-17DF33FA8999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441707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0" y="0"/>
            <a:ext cx="9144000" cy="123405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13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27264-46E2-4F81-815E-C15DEFA94A08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028950" y="5296962"/>
            <a:ext cx="3086100" cy="304271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5B51-9806-4958-B525-B1D932963F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2834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5411434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1"/>
            <a:ext cx="788714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05B51-9806-4958-B525-B1D932963F8B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209287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6457950" y="5296962"/>
            <a:ext cx="2057400" cy="304271"/>
          </a:xfrm>
          <a:prstGeom prst="rect">
            <a:avLst/>
          </a:prstGeom>
        </p:spPr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05157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3 Institute Bild im Kre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4" y="344529"/>
            <a:ext cx="2136071" cy="431998"/>
          </a:xfrm>
          <a:prstGeom prst="rect">
            <a:avLst/>
          </a:prstGeom>
        </p:spPr>
      </p:pic>
      <p:sp>
        <p:nvSpPr>
          <p:cNvPr id="6" name="Rechteck 5"/>
          <p:cNvSpPr/>
          <p:nvPr userDrawn="1"/>
        </p:nvSpPr>
        <p:spPr>
          <a:xfrm>
            <a:off x="0" y="1407605"/>
            <a:ext cx="9144000" cy="43073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80" dirty="0">
              <a:latin typeface="Verdana Pro" panose="020B0604030504040204" pitchFamily="34" charset="0"/>
            </a:endParaRP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5"/>
          </p:nvPr>
        </p:nvSpPr>
        <p:spPr>
          <a:xfrm>
            <a:off x="4970584" y="1004403"/>
            <a:ext cx="3913200" cy="39120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3" hasCustomPrompt="1"/>
          </p:nvPr>
        </p:nvSpPr>
        <p:spPr>
          <a:xfrm>
            <a:off x="952455" y="648000"/>
            <a:ext cx="3561913" cy="483423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810"/>
            </a:lvl1pPr>
          </a:lstStyle>
          <a:p>
            <a:pPr lvl="0"/>
            <a:r>
              <a:rPr lang="de-DE" dirty="0"/>
              <a:t>Institutsname max. 2-zeilig, bitte hier klicken und überschreiben</a:t>
            </a:r>
          </a:p>
        </p:txBody>
      </p:sp>
      <p:sp>
        <p:nvSpPr>
          <p:cNvPr id="9" name="Bildplatzhalt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7437800" y="4050005"/>
            <a:ext cx="1329711" cy="132971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lvl1pPr marL="0" indent="0">
              <a:buFontTx/>
              <a:buNone/>
              <a:defRPr sz="608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  <p:sp>
        <p:nvSpPr>
          <p:cNvPr id="13" name="Textplatzhalter 6"/>
          <p:cNvSpPr>
            <a:spLocks noGrp="1"/>
          </p:cNvSpPr>
          <p:nvPr>
            <p:ph type="body" sz="quarter" idx="17" hasCustomPrompt="1"/>
          </p:nvPr>
        </p:nvSpPr>
        <p:spPr>
          <a:xfrm>
            <a:off x="388205" y="1618407"/>
            <a:ext cx="4536000" cy="2929317"/>
          </a:xfrm>
        </p:spPr>
        <p:txBody>
          <a:bodyPr anchor="t"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1890" b="1">
                <a:solidFill>
                  <a:schemeClr val="bg1"/>
                </a:solidFill>
              </a:defRPr>
            </a:lvl1pPr>
            <a:lvl2pPr marL="118941" indent="0">
              <a:buFontTx/>
              <a:buNone/>
              <a:defRPr sz="1890" b="1">
                <a:solidFill>
                  <a:schemeClr val="bg1"/>
                </a:solidFill>
              </a:defRPr>
            </a:lvl2pPr>
            <a:lvl3pPr marL="243239" indent="0">
              <a:buFontTx/>
              <a:buNone/>
              <a:defRPr sz="1890" b="1">
                <a:solidFill>
                  <a:schemeClr val="bg1"/>
                </a:solidFill>
              </a:defRPr>
            </a:lvl3pPr>
            <a:lvl4pPr marL="362180" indent="0">
              <a:buFontTx/>
              <a:buNone/>
              <a:defRPr sz="1890" b="1">
                <a:solidFill>
                  <a:schemeClr val="bg1"/>
                </a:solidFill>
              </a:defRPr>
            </a:lvl4pPr>
            <a:lvl5pPr marL="486478" indent="0">
              <a:buFontTx/>
              <a:buNone/>
              <a:defRPr sz="189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8" hasCustomPrompt="1"/>
          </p:nvPr>
        </p:nvSpPr>
        <p:spPr>
          <a:xfrm>
            <a:off x="388940" y="4625216"/>
            <a:ext cx="4535487" cy="654050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8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080">
                <a:solidFill>
                  <a:schemeClr val="bg1"/>
                </a:solidFill>
              </a:defRPr>
            </a:lvl2pPr>
            <a:lvl3pPr marL="0" indent="0">
              <a:buFontTx/>
              <a:buNone/>
              <a:defRPr sz="108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 sz="1080">
                <a:solidFill>
                  <a:schemeClr val="bg1"/>
                </a:solidFill>
              </a:defRPr>
            </a:lvl4pPr>
            <a:lvl5pPr marL="0" indent="0">
              <a:buFontTx/>
              <a:buNone/>
              <a:defRPr sz="1080">
                <a:solidFill>
                  <a:schemeClr val="bg1"/>
                </a:solidFill>
              </a:defRPr>
            </a:lvl5pPr>
          </a:lstStyle>
          <a:p>
            <a:r>
              <a:rPr lang="de-DE"/>
              <a:t>Formatvorlage des Untertitelmasters durch Klicken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32943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4" y="50381"/>
            <a:ext cx="788714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9149" y="585130"/>
            <a:ext cx="8493542" cy="456246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9578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80062" y="50381"/>
            <a:ext cx="8290806" cy="316211"/>
          </a:xfrm>
          <a:prstGeom prst="rect">
            <a:avLst/>
          </a:prstGeom>
        </p:spPr>
        <p:txBody>
          <a:bodyPr/>
          <a:lstStyle>
            <a:lvl1pPr>
              <a:defRPr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C102A-399B-40FD-8FBB-DA2BAEF1DC6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179711" y="5373628"/>
            <a:ext cx="7526610" cy="304168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2pPr>
            <a:lvl3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3pPr>
            <a:lvl4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4pPr>
            <a:lvl5pPr>
              <a:defRPr>
                <a:solidFill>
                  <a:schemeClr val="bg1"/>
                </a:solidFill>
                <a:latin typeface="Myriad Pro" panose="020B0503030403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177050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1" y="0"/>
            <a:ext cx="9144000" cy="5715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25" dirty="0">
              <a:latin typeface="HelveticaNeueLT Pro 45 Lt" panose="020B0403020202020204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318087"/>
            <a:ext cx="7886700" cy="535571"/>
          </a:xfrm>
          <a:prstGeom prst="rect">
            <a:avLst/>
          </a:prstGeo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39543"/>
            <a:ext cx="7886700" cy="3626115"/>
          </a:xfrm>
        </p:spPr>
        <p:txBody>
          <a:bodyPr/>
          <a:lstStyle>
            <a:lvl1pPr>
              <a:defRPr>
                <a:latin typeface="Franklin Gothic Book" panose="020B0503020102020204" pitchFamily="34" charset="0"/>
              </a:defRPr>
            </a:lvl1pPr>
            <a:lvl2pPr>
              <a:defRPr>
                <a:latin typeface="Franklin Gothic Book" panose="020B0503020102020204" pitchFamily="34" charset="0"/>
              </a:defRPr>
            </a:lvl2pPr>
            <a:lvl3pPr>
              <a:defRPr>
                <a:latin typeface="Franklin Gothic Book" panose="020B0503020102020204" pitchFamily="34" charset="0"/>
              </a:defRPr>
            </a:lvl3pPr>
            <a:lvl4pPr>
              <a:defRPr>
                <a:latin typeface="Franklin Gothic Book" panose="020B0503020102020204" pitchFamily="34" charset="0"/>
              </a:defRPr>
            </a:lvl4pPr>
            <a:lvl5pPr>
              <a:defRPr>
                <a:latin typeface="Franklin Gothic Book" panose="020B0503020102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56351" y="749907"/>
            <a:ext cx="1087655" cy="304271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NeueLT Pro 45 Lt" panose="020B0403020202020204" pitchFamily="34" charset="0"/>
              </a:defRPr>
            </a:lvl1pPr>
          </a:lstStyle>
          <a:p>
            <a:fld id="{F16B0610-2A41-4147-9028-430DB42FBA95}" type="datetimeFigureOut">
              <a:rPr lang="de-DE" smtClean="0"/>
              <a:pPr/>
              <a:t>16.12.25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028950" y="5296971"/>
            <a:ext cx="3086100" cy="304271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NeueLT Pro 45 Lt" panose="020B0403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23CFA-973D-4835-A822-D5B1023423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5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1358637"/>
            <a:ext cx="6858000" cy="1989667"/>
          </a:xfrm>
        </p:spPr>
        <p:txBody>
          <a:bodyPr anchor="b"/>
          <a:lstStyle>
            <a:lvl1pPr algn="ctr">
              <a:defRPr sz="3375">
                <a:latin typeface="Franklin Gothic Book" panose="020B05030201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425036"/>
            <a:ext cx="6858000" cy="1093739"/>
          </a:xfrm>
        </p:spPr>
        <p:txBody>
          <a:bodyPr/>
          <a:lstStyle>
            <a:lvl1pPr marL="0" indent="0" algn="ctr">
              <a:buNone/>
              <a:defRPr sz="1350">
                <a:solidFill>
                  <a:schemeClr val="tx1">
                    <a:lumMod val="85000"/>
                  </a:schemeClr>
                </a:solidFill>
                <a:latin typeface="Franklin Gothic Book" panose="020B0503020102020204" pitchFamily="34" charset="0"/>
              </a:defRPr>
            </a:lvl1pPr>
            <a:lvl2pPr marL="257168" indent="0" algn="ctr">
              <a:buNone/>
              <a:defRPr sz="1125"/>
            </a:lvl2pPr>
            <a:lvl3pPr marL="514337" indent="0" algn="ctr">
              <a:buNone/>
              <a:defRPr sz="1013"/>
            </a:lvl3pPr>
            <a:lvl4pPr marL="771506" indent="0" algn="ctr">
              <a:buNone/>
              <a:defRPr sz="900"/>
            </a:lvl4pPr>
            <a:lvl5pPr marL="1028675" indent="0" algn="ctr">
              <a:buNone/>
              <a:defRPr sz="900"/>
            </a:lvl5pPr>
            <a:lvl6pPr marL="1285843" indent="0" algn="ctr">
              <a:buNone/>
              <a:defRPr sz="900"/>
            </a:lvl6pPr>
            <a:lvl7pPr marL="1543012" indent="0" algn="ctr">
              <a:buNone/>
              <a:defRPr sz="900"/>
            </a:lvl7pPr>
            <a:lvl8pPr marL="1800180" indent="0" algn="ctr">
              <a:buNone/>
              <a:defRPr sz="900"/>
            </a:lvl8pPr>
            <a:lvl9pPr marL="2057348" indent="0" algn="ctr">
              <a:buNone/>
              <a:defRPr sz="900"/>
            </a:lvl9pPr>
          </a:lstStyle>
          <a:p>
            <a:r>
              <a:rPr lang="de-DE" dirty="0"/>
              <a:t>Benedikt Ehinger</a:t>
            </a:r>
          </a:p>
          <a:p>
            <a:r>
              <a:rPr lang="de-DE" dirty="0"/>
              <a:t>Institute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Cognitive</a:t>
            </a:r>
            <a:r>
              <a:rPr lang="de-DE" dirty="0"/>
              <a:t> Science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8001003" y="525901"/>
            <a:ext cx="1087655" cy="304271"/>
          </a:xfrm>
        </p:spPr>
        <p:txBody>
          <a:bodyPr/>
          <a:lstStyle>
            <a:lvl1pPr>
              <a:defRPr>
                <a:latin typeface="HelveticaNeueLT Pro 45 Lt" panose="020B0403020202020204" pitchFamily="34" charset="0"/>
              </a:defRPr>
            </a:lvl1pPr>
          </a:lstStyle>
          <a:p>
            <a:fld id="{F16B0610-2A41-4147-9028-430DB42FBA95}" type="datetimeFigureOut">
              <a:rPr lang="de-DE" smtClean="0"/>
              <a:pPr/>
              <a:t>16.12.25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1391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&amp; Unt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text"/>
          <p:cNvSpPr txBox="1">
            <a:spLocks noGrp="1"/>
          </p:cNvSpPr>
          <p:nvPr>
            <p:ph type="title"/>
          </p:nvPr>
        </p:nvSpPr>
        <p:spPr>
          <a:xfrm>
            <a:off x="892972" y="2293286"/>
            <a:ext cx="4952687" cy="1934766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3560" b="1" cap="all" baseline="0">
                <a:solidFill>
                  <a:srgbClr val="273845"/>
                </a:solidFill>
                <a:latin typeface="HelveticaNeueLT Pro 65 Md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dirty="0"/>
          </a:p>
        </p:txBody>
      </p:sp>
      <p:sp>
        <p:nvSpPr>
          <p:cNvPr id="12" name="Textebene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327862" y="2946801"/>
            <a:ext cx="2603485" cy="1980981"/>
          </a:xfrm>
          <a:prstGeom prst="rect">
            <a:avLst/>
          </a:prstGeom>
        </p:spPr>
        <p:txBody>
          <a:bodyPr anchor="t"/>
          <a:lstStyle>
            <a:lvl1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  <a:lvl2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2pPr>
            <a:lvl3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3pPr>
            <a:lvl4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4pPr>
            <a:lvl5pPr marL="0" indent="0" algn="l">
              <a:spcBef>
                <a:spcPts val="0"/>
              </a:spcBef>
              <a:buSzTx/>
              <a:buFont typeface="Arial" panose="020B0604020202020204" pitchFamily="34" charset="0"/>
              <a:buNone/>
              <a:defRPr sz="1266" cap="small" baseline="0">
                <a:solidFill>
                  <a:schemeClr val="bg1"/>
                </a:solidFill>
                <a:latin typeface="HelveticaNeueLT Pro 45 Lt" panose="020B0403020202020204" pitchFamily="34" charset="0"/>
              </a:defRPr>
            </a:lvl5pPr>
          </a:lstStyle>
          <a:p>
            <a:r>
              <a:rPr dirty="0" err="1"/>
              <a:t>Textebene</a:t>
            </a:r>
            <a:r>
              <a:rPr dirty="0"/>
              <a:t> 1</a:t>
            </a:r>
          </a:p>
          <a:p>
            <a:pPr lvl="1"/>
            <a:r>
              <a:rPr dirty="0" err="1"/>
              <a:t>Textebene</a:t>
            </a:r>
            <a:r>
              <a:rPr dirty="0"/>
              <a:t> 2</a:t>
            </a:r>
          </a:p>
          <a:p>
            <a:pPr lvl="2"/>
            <a:r>
              <a:rPr dirty="0" err="1"/>
              <a:t>Textebene</a:t>
            </a:r>
            <a:r>
              <a:rPr dirty="0"/>
              <a:t> 3</a:t>
            </a:r>
          </a:p>
          <a:p>
            <a:pPr lvl="3"/>
            <a:r>
              <a:rPr dirty="0" err="1"/>
              <a:t>Textebene</a:t>
            </a:r>
            <a:r>
              <a:rPr dirty="0"/>
              <a:t> 4</a:t>
            </a:r>
          </a:p>
          <a:p>
            <a:pPr lvl="4"/>
            <a:r>
              <a:rPr dirty="0" err="1"/>
              <a:t>Textebene</a:t>
            </a:r>
            <a:r>
              <a:rPr dirty="0"/>
              <a:t> 5</a:t>
            </a:r>
          </a:p>
        </p:txBody>
      </p:sp>
      <p:sp>
        <p:nvSpPr>
          <p:cNvPr id="13" name="Foliennummer"/>
          <p:cNvSpPr txBox="1">
            <a:spLocks noGrp="1"/>
          </p:cNvSpPr>
          <p:nvPr>
            <p:ph type="sldNum" sz="quarter" idx="2"/>
          </p:nvPr>
        </p:nvSpPr>
        <p:spPr>
          <a:xfrm>
            <a:off x="2543028" y="4466294"/>
            <a:ext cx="2338222" cy="348653"/>
          </a:xfrm>
          <a:prstGeom prst="rect">
            <a:avLst/>
          </a:prstGeom>
        </p:spPr>
        <p:txBody>
          <a:bodyPr/>
          <a:lstStyle>
            <a:lvl1pPr>
              <a:defRPr sz="1266" cap="small" baseline="0">
                <a:latin typeface="HelveticaNeueLT Pro 45 Lt" panose="020B0403020202020204" pitchFamily="34" charset="0"/>
              </a:defRPr>
            </a:lvl1pPr>
          </a:lstStyle>
          <a:p>
            <a:r>
              <a:rPr lang="de-DE"/>
              <a:t>Benedikt Ehinger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846508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3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5989474" y="2764180"/>
            <a:ext cx="3154529" cy="186642"/>
          </a:xfrm>
          <a:prstGeom prst="rect">
            <a:avLst/>
          </a:prstGeom>
          <a:solidFill>
            <a:srgbClr val="27384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092" tIns="20092" rIns="20092" bIns="20092" numCol="1" spcCol="38100" rtlCol="0" anchor="ctr">
            <a:spAutoFit/>
          </a:bodyPr>
          <a:lstStyle/>
          <a:p>
            <a:pPr marL="0" marR="0" indent="0" algn="ctr" defTabSz="23103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949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836529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73" r:id="rId5"/>
  </p:sldLayoutIdLst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txStyles>
    <p:titleStyle>
      <a:lvl1pPr marL="0" marR="0" indent="0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6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1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17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22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27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32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38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43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175789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351576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527365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703154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878941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054730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230518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406306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1582094" marR="0" indent="-175789" algn="l" defTabSz="231035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6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1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17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22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27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32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38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43" algn="ctr" defTabSz="231035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/>
        </p:nvSpPr>
        <p:spPr>
          <a:xfrm>
            <a:off x="0" y="5321519"/>
            <a:ext cx="9144000" cy="408886"/>
          </a:xfrm>
          <a:prstGeom prst="rect">
            <a:avLst/>
          </a:prstGeom>
          <a:solidFill>
            <a:srgbClr val="3E444C"/>
          </a:solidFill>
          <a:ln>
            <a:solidFill>
              <a:srgbClr val="2738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429" y="1521768"/>
            <a:ext cx="7887146" cy="3625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791393" y="5373876"/>
            <a:ext cx="1189469" cy="304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5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fld id="{67EF6F4E-9BE2-432C-88B0-17DF33FA899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Rechteck 14"/>
          <p:cNvSpPr/>
          <p:nvPr/>
        </p:nvSpPr>
        <p:spPr>
          <a:xfrm>
            <a:off x="0" y="2"/>
            <a:ext cx="9144000" cy="408886"/>
          </a:xfrm>
          <a:prstGeom prst="rect">
            <a:avLst/>
          </a:prstGeom>
          <a:solidFill>
            <a:srgbClr val="3E4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/>
          </a:p>
        </p:txBody>
      </p:sp>
      <p:sp>
        <p:nvSpPr>
          <p:cNvPr id="16" name="Titelplatzhalter 1"/>
          <p:cNvSpPr>
            <a:spLocks noGrp="1"/>
          </p:cNvSpPr>
          <p:nvPr>
            <p:ph type="title"/>
          </p:nvPr>
        </p:nvSpPr>
        <p:spPr>
          <a:xfrm>
            <a:off x="180064" y="46339"/>
            <a:ext cx="7887146" cy="316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56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87" r:id="rId4"/>
  </p:sldLayoutIdLst>
  <p:txStyles>
    <p:titleStyle>
      <a:lvl1pPr algn="l" defTabSz="361622" rtl="0" eaLnBrk="1" latinLnBrk="0" hangingPunct="1">
        <a:lnSpc>
          <a:spcPct val="90000"/>
        </a:lnSpc>
        <a:spcBef>
          <a:spcPct val="0"/>
        </a:spcBef>
        <a:buNone/>
        <a:defRPr sz="1741" kern="1200">
          <a:solidFill>
            <a:schemeClr val="bg1"/>
          </a:solidFill>
          <a:latin typeface="HelveticaNeueLT Pro 45 Lt" panose="020B0403020202020204" pitchFamily="34" charset="0"/>
          <a:ea typeface="+mj-ea"/>
          <a:cs typeface="+mj-cs"/>
        </a:defRPr>
      </a:lvl1pPr>
    </p:titleStyle>
    <p:bodyStyle>
      <a:lvl1pPr marL="90406" indent="-90406" algn="l" defTabSz="361622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108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1pPr>
      <a:lvl2pPr marL="271217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949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2pPr>
      <a:lvl3pPr marL="452027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91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3pPr>
      <a:lvl4pPr marL="632838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4pPr>
      <a:lvl5pPr marL="813649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5pPr>
      <a:lvl6pPr marL="994460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175270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356081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536890" indent="-90406" algn="l" defTabSz="361622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1pPr>
      <a:lvl2pPr marL="180811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2pPr>
      <a:lvl3pPr marL="361622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3pPr>
      <a:lvl4pPr marL="542432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4pPr>
      <a:lvl5pPr marL="723243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5pPr>
      <a:lvl6pPr marL="904054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084865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265675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446486" algn="l" defTabSz="361622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3F619A1-D1E9-429C-902E-DECB7980D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4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349E562-43E1-45ED-98DE-9FEFBDF0B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936172-EA75-4688-BBB5-23A03AD76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62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84961-95F9-4150-895C-A2B8F9C8F1C6}" type="datetimeFigureOut">
              <a:rPr lang="de-DE" smtClean="0"/>
              <a:t>16.12.25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10FD4E-22F6-42E3-95E8-96C6E6BD85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62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7D5CA3-6553-453A-9A8B-FBB749EE6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62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B9335-DEF4-4775-A66C-56011791B11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80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28" r:id="rId15"/>
  </p:sldLayoutIdLst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5" indent="-128585" algn="l" defTabSz="514337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5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22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091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59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28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4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2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8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5989474" y="3426871"/>
            <a:ext cx="3154529" cy="186642"/>
          </a:xfrm>
          <a:prstGeom prst="rect">
            <a:avLst/>
          </a:prstGeom>
          <a:solidFill>
            <a:srgbClr val="27384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092" tIns="20092" rIns="20092" bIns="20092" numCol="1" spcCol="38100" rtlCol="0" anchor="ctr">
            <a:spAutoFit/>
          </a:bodyPr>
          <a:lstStyle/>
          <a:p>
            <a:pPr marL="0" marR="0" indent="0" algn="ctr" defTabSz="23104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949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331706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</p:sldLayoutIdLst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txStyles>
    <p:titleStyle>
      <a:lvl1pPr marL="0" marR="0" indent="0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23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3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3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46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5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6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17579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351585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527378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703171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87896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054756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230548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406341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158213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23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3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3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46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5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6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/>
        </p:nvSpPr>
        <p:spPr>
          <a:xfrm>
            <a:off x="0" y="5321515"/>
            <a:ext cx="9144000" cy="408886"/>
          </a:xfrm>
          <a:prstGeom prst="rect">
            <a:avLst/>
          </a:prstGeom>
          <a:solidFill>
            <a:srgbClr val="273845"/>
          </a:solidFill>
          <a:ln>
            <a:solidFill>
              <a:srgbClr val="2738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429" y="1521768"/>
            <a:ext cx="7887146" cy="3625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791391" y="5373873"/>
            <a:ext cx="1189469" cy="304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5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fld id="{67EF6F4E-9BE2-432C-88B0-17DF33FA899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Rechteck 14"/>
          <p:cNvSpPr/>
          <p:nvPr/>
        </p:nvSpPr>
        <p:spPr>
          <a:xfrm>
            <a:off x="0" y="2"/>
            <a:ext cx="9144000" cy="408886"/>
          </a:xfrm>
          <a:prstGeom prst="rect">
            <a:avLst/>
          </a:prstGeom>
          <a:solidFill>
            <a:srgbClr val="2738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/>
          </a:p>
        </p:txBody>
      </p:sp>
      <p:sp>
        <p:nvSpPr>
          <p:cNvPr id="16" name="Titelplatzhalter 1"/>
          <p:cNvSpPr>
            <a:spLocks noGrp="1"/>
          </p:cNvSpPr>
          <p:nvPr>
            <p:ph type="title"/>
          </p:nvPr>
        </p:nvSpPr>
        <p:spPr>
          <a:xfrm>
            <a:off x="180064" y="46339"/>
            <a:ext cx="7887146" cy="316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36731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</p:sldLayoutIdLst>
  <p:txStyles>
    <p:titleStyle>
      <a:lvl1pPr algn="l" defTabSz="361631" rtl="0" eaLnBrk="1" latinLnBrk="0" hangingPunct="1">
        <a:lnSpc>
          <a:spcPct val="90000"/>
        </a:lnSpc>
        <a:spcBef>
          <a:spcPct val="0"/>
        </a:spcBef>
        <a:buNone/>
        <a:defRPr sz="1741" kern="1200">
          <a:solidFill>
            <a:schemeClr val="bg1"/>
          </a:solidFill>
          <a:latin typeface="HelveticaNeueLT Pro 45 Lt" panose="020B0403020202020204" pitchFamily="34" charset="0"/>
          <a:ea typeface="+mj-ea"/>
          <a:cs typeface="+mj-cs"/>
        </a:defRPr>
      </a:lvl1pPr>
    </p:titleStyle>
    <p:bodyStyle>
      <a:lvl1pPr marL="90408" indent="-90408" algn="l" defTabSz="361631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108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1pPr>
      <a:lvl2pPr marL="271223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949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2pPr>
      <a:lvl3pPr marL="452038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91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3pPr>
      <a:lvl4pPr marL="632855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4pPr>
      <a:lvl5pPr marL="813669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5pPr>
      <a:lvl6pPr marL="994484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175300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356115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536929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1pPr>
      <a:lvl2pPr marL="180815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2pPr>
      <a:lvl3pPr marL="361631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3pPr>
      <a:lvl4pPr marL="54244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4pPr>
      <a:lvl5pPr marL="723261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5pPr>
      <a:lvl6pPr marL="90407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084892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26570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446522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5989474" y="3426871"/>
            <a:ext cx="3154529" cy="186642"/>
          </a:xfrm>
          <a:prstGeom prst="rect">
            <a:avLst/>
          </a:prstGeom>
          <a:solidFill>
            <a:srgbClr val="273845"/>
          </a:solidFill>
          <a:ln w="12700" cap="flat">
            <a:noFill/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0092" tIns="20092" rIns="20092" bIns="20092" numCol="1" spcCol="38100" rtlCol="0" anchor="ctr">
            <a:spAutoFit/>
          </a:bodyPr>
          <a:lstStyle/>
          <a:p>
            <a:pPr marL="0" marR="0" indent="0" algn="ctr" defTabSz="23104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949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990761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</p:sldLayoutIdLst>
  <mc:AlternateContent xmlns:mc="http://schemas.openxmlformats.org/markup-compatibility/2006" xmlns:p14="http://schemas.microsoft.com/office/powerpoint/2010/main">
    <mc:Choice Requires="p14">
      <p:transition p14:dur="250">
        <p:push/>
      </p:transition>
    </mc:Choice>
    <mc:Fallback xmlns="">
      <p:transition>
        <p:push/>
      </p:transition>
    </mc:Fallback>
  </mc:AlternateContent>
  <p:txStyles>
    <p:titleStyle>
      <a:lvl1pPr marL="0" marR="0" indent="0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23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3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3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46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5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6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6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17579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351585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527378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703171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87896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1054756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1230548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1406341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1582133" marR="0" indent="-175793" algn="l" defTabSz="231041" rtl="0" eaLnBrk="1" latinLnBrk="0" hangingPunct="1">
        <a:lnSpc>
          <a:spcPct val="100000"/>
        </a:lnSpc>
        <a:spcBef>
          <a:spcPts val="1661"/>
        </a:spcBef>
        <a:spcAft>
          <a:spcPts val="0"/>
        </a:spcAft>
        <a:buClrTx/>
        <a:buSzPct val="75000"/>
        <a:buFontTx/>
        <a:buChar char="•"/>
        <a:tabLst/>
        <a:defRPr sz="1424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9040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18081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271223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36163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452038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542446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632855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723261" algn="ctr" defTabSz="23104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712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/>
        </p:nvSpPr>
        <p:spPr>
          <a:xfrm>
            <a:off x="0" y="5321515"/>
            <a:ext cx="9144000" cy="408886"/>
          </a:xfrm>
          <a:prstGeom prst="rect">
            <a:avLst/>
          </a:prstGeom>
          <a:solidFill>
            <a:srgbClr val="273845"/>
          </a:solidFill>
          <a:ln>
            <a:solidFill>
              <a:srgbClr val="2738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 dirty="0">
              <a:latin typeface="HelveticaNeueLT Pro 45 Lt" panose="020B0403020202020204" pitchFamily="34" charset="0"/>
            </a:endParaRP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8429" y="1521768"/>
            <a:ext cx="7887146" cy="3625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791391" y="5373873"/>
            <a:ext cx="1189469" cy="304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5">
                <a:solidFill>
                  <a:schemeClr val="bg1"/>
                </a:solidFill>
                <a:latin typeface="HelveticaNeueLT Pro 45 Lt" panose="020B0403020202020204" pitchFamily="34" charset="0"/>
              </a:defRPr>
            </a:lvl1pPr>
          </a:lstStyle>
          <a:p>
            <a:fld id="{67EF6F4E-9BE2-432C-88B0-17DF33FA8999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Rechteck 14"/>
          <p:cNvSpPr/>
          <p:nvPr/>
        </p:nvSpPr>
        <p:spPr>
          <a:xfrm>
            <a:off x="0" y="2"/>
            <a:ext cx="9144000" cy="408886"/>
          </a:xfrm>
          <a:prstGeom prst="rect">
            <a:avLst/>
          </a:prstGeom>
          <a:solidFill>
            <a:srgbClr val="2738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712" dirty="0">
              <a:latin typeface="HelveticaNeueLT Pro 45 Lt" panose="020B0403020202020204" pitchFamily="34" charset="0"/>
            </a:endParaRPr>
          </a:p>
        </p:txBody>
      </p:sp>
      <p:sp>
        <p:nvSpPr>
          <p:cNvPr id="16" name="Titelplatzhalter 1"/>
          <p:cNvSpPr>
            <a:spLocks noGrp="1"/>
          </p:cNvSpPr>
          <p:nvPr>
            <p:ph type="title"/>
          </p:nvPr>
        </p:nvSpPr>
        <p:spPr>
          <a:xfrm>
            <a:off x="180064" y="46339"/>
            <a:ext cx="7887146" cy="3162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7160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</p:sldLayoutIdLst>
  <p:txStyles>
    <p:titleStyle>
      <a:lvl1pPr algn="l" defTabSz="361631" rtl="0" eaLnBrk="1" latinLnBrk="0" hangingPunct="1">
        <a:lnSpc>
          <a:spcPct val="90000"/>
        </a:lnSpc>
        <a:spcBef>
          <a:spcPct val="0"/>
        </a:spcBef>
        <a:buNone/>
        <a:defRPr sz="1741" kern="1200">
          <a:solidFill>
            <a:schemeClr val="bg1"/>
          </a:solidFill>
          <a:latin typeface="HelveticaNeueLT Pro 45 Lt" panose="020B0403020202020204" pitchFamily="34" charset="0"/>
          <a:ea typeface="+mj-ea"/>
          <a:cs typeface="+mj-cs"/>
        </a:defRPr>
      </a:lvl1pPr>
    </p:titleStyle>
    <p:bodyStyle>
      <a:lvl1pPr marL="90408" indent="-90408" algn="l" defTabSz="361631" rtl="0" eaLnBrk="1" latinLnBrk="0" hangingPunct="1">
        <a:lnSpc>
          <a:spcPct val="90000"/>
        </a:lnSpc>
        <a:spcBef>
          <a:spcPts val="395"/>
        </a:spcBef>
        <a:buFont typeface="Arial" panose="020B0604020202020204" pitchFamily="34" charset="0"/>
        <a:buChar char="•"/>
        <a:defRPr sz="1108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1pPr>
      <a:lvl2pPr marL="271223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949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2pPr>
      <a:lvl3pPr marL="452038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91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3pPr>
      <a:lvl4pPr marL="632855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4pPr>
      <a:lvl5pPr marL="813669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HelveticaNeueLT Pro 45 Lt" panose="020B0403020202020204" pitchFamily="34" charset="0"/>
          <a:ea typeface="+mn-ea"/>
          <a:cs typeface="+mn-cs"/>
        </a:defRPr>
      </a:lvl5pPr>
      <a:lvl6pPr marL="994484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175300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356115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536929" indent="-90408" algn="l" defTabSz="361631" rtl="0" eaLnBrk="1" latinLnBrk="0" hangingPunct="1">
        <a:lnSpc>
          <a:spcPct val="90000"/>
        </a:lnSpc>
        <a:spcBef>
          <a:spcPts val="198"/>
        </a:spcBef>
        <a:buFont typeface="Arial" panose="020B0604020202020204" pitchFamily="34" charset="0"/>
        <a:buChar char="•"/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1pPr>
      <a:lvl2pPr marL="180815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2pPr>
      <a:lvl3pPr marL="361631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3pPr>
      <a:lvl4pPr marL="54244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4pPr>
      <a:lvl5pPr marL="723261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5pPr>
      <a:lvl6pPr marL="90407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6pPr>
      <a:lvl7pPr marL="1084892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7pPr>
      <a:lvl8pPr marL="1265706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8pPr>
      <a:lvl9pPr marL="1446522" algn="l" defTabSz="361631" rtl="0" eaLnBrk="1" latinLnBrk="0" hangingPunct="1">
        <a:defRPr sz="7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3CD56633-4457-4ECA-8BA1-40CDDC9DF50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anchor="ctr">
            <a:normAutofit/>
          </a:bodyPr>
          <a:lstStyle/>
          <a:p>
            <a:r>
              <a:rPr lang="de-DE" sz="2000" b="0" dirty="0" err="1"/>
              <a:t>Effect</a:t>
            </a:r>
            <a:r>
              <a:rPr lang="de-DE" sz="2000" b="0" dirty="0"/>
              <a:t> </a:t>
            </a:r>
            <a:r>
              <a:rPr lang="de-DE" sz="2000" b="0" dirty="0" err="1"/>
              <a:t>of</a:t>
            </a:r>
            <a:r>
              <a:rPr lang="de-DE" sz="2000" b="0" dirty="0"/>
              <a:t> </a:t>
            </a:r>
            <a:r>
              <a:rPr lang="de-DE" sz="2000" b="0" dirty="0" err="1"/>
              <a:t>stimulus</a:t>
            </a:r>
            <a:r>
              <a:rPr lang="de-DE" sz="2000" b="0" dirty="0"/>
              <a:t> </a:t>
            </a:r>
            <a:r>
              <a:rPr lang="de-DE" sz="2000" b="0" dirty="0" err="1"/>
              <a:t>duration</a:t>
            </a:r>
            <a:r>
              <a:rPr lang="de-DE" sz="2000" b="0" dirty="0"/>
              <a:t> on event-</a:t>
            </a:r>
            <a:r>
              <a:rPr lang="de-DE" sz="2000" b="0" dirty="0" err="1"/>
              <a:t>related</a:t>
            </a:r>
            <a:r>
              <a:rPr lang="de-DE" sz="2000" b="0" dirty="0"/>
              <a:t> </a:t>
            </a:r>
            <a:r>
              <a:rPr lang="de-DE" sz="2000" b="0" dirty="0" err="1"/>
              <a:t>potentials</a:t>
            </a:r>
            <a:r>
              <a:rPr lang="de-DE" sz="2000" b="0" dirty="0"/>
              <a:t> </a:t>
            </a:r>
            <a:r>
              <a:rPr lang="de-DE" sz="2000" b="0" dirty="0" err="1"/>
              <a:t>during</a:t>
            </a:r>
            <a:r>
              <a:rPr lang="de-DE" sz="2000" b="0" dirty="0"/>
              <a:t> a rapid </a:t>
            </a:r>
            <a:r>
              <a:rPr lang="de-DE" sz="2000" b="0" dirty="0" err="1"/>
              <a:t>serial</a:t>
            </a:r>
            <a:r>
              <a:rPr lang="de-DE" sz="2000" b="0" dirty="0"/>
              <a:t> </a:t>
            </a:r>
            <a:r>
              <a:rPr lang="de-DE" sz="2000" b="0" dirty="0" err="1"/>
              <a:t>visual</a:t>
            </a:r>
            <a:r>
              <a:rPr lang="de-DE" sz="2000" b="0" dirty="0"/>
              <a:t> </a:t>
            </a:r>
            <a:r>
              <a:rPr lang="de-DE" sz="2000" b="0" dirty="0" err="1"/>
              <a:t>presentation</a:t>
            </a:r>
            <a:r>
              <a:rPr lang="de-DE" sz="2000" b="0" dirty="0"/>
              <a:t> </a:t>
            </a:r>
            <a:r>
              <a:rPr lang="de-DE" sz="2000" b="0" dirty="0" err="1"/>
              <a:t>task</a:t>
            </a:r>
            <a:endParaRPr lang="de-DE" sz="2000" b="0" dirty="0"/>
          </a:p>
          <a:p>
            <a:endParaRPr lang="de-DE" sz="2000" b="0" dirty="0"/>
          </a:p>
        </p:txBody>
      </p:sp>
      <p:pic>
        <p:nvPicPr>
          <p:cNvPr id="15" name="Bildplatzhalter 14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0E8B6563-266D-9321-1C37-656008D1DF8E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2" b="322"/>
          <a:stretch>
            <a:fillRect/>
          </a:stretch>
        </p:blipFill>
        <p:spPr/>
      </p:pic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7E2AF696-4E96-7306-22EB-8E8A96DD1C0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de-DE" sz="1400" dirty="0"/>
              <a:t>Bachelor </a:t>
            </a:r>
            <a:r>
              <a:rPr lang="de-DE" sz="1400" dirty="0" err="1"/>
              <a:t>thesis</a:t>
            </a:r>
            <a:r>
              <a:rPr lang="de-DE" sz="1400" dirty="0"/>
              <a:t> final </a:t>
            </a:r>
            <a:r>
              <a:rPr lang="de-DE" sz="1400" dirty="0" err="1"/>
              <a:t>presentation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881149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CE37-8B47-F29F-38AA-3234444B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795E5-E2FE-80FB-9A40-A113EBA7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D6760C-889A-7D4C-450D-211F017C69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9710" y="5373630"/>
            <a:ext cx="8964289" cy="316211"/>
          </a:xfrm>
        </p:spPr>
        <p:txBody>
          <a:bodyPr>
            <a:normAutofit/>
          </a:bodyPr>
          <a:lstStyle/>
          <a:p>
            <a:r>
              <a:rPr lang="de-DE" sz="800" dirty="0">
                <a:latin typeface="Helvetica" pitchFamily="2" charset="0"/>
              </a:rPr>
              <a:t>Figure </a:t>
            </a:r>
            <a:r>
              <a:rPr lang="de-DE" sz="800" dirty="0" err="1">
                <a:latin typeface="Helvetica" pitchFamily="2" charset="0"/>
              </a:rPr>
              <a:t>from</a:t>
            </a:r>
            <a:r>
              <a:rPr lang="de-DE" sz="800" dirty="0">
                <a:latin typeface="Helvetica" pitchFamily="2" charset="0"/>
              </a:rPr>
              <a:t> “Brain </a:t>
            </a:r>
            <a:r>
              <a:rPr lang="de-DE" sz="800" dirty="0" err="1">
                <a:latin typeface="Helvetica" pitchFamily="2" charset="0"/>
              </a:rPr>
              <a:t>responses</a:t>
            </a:r>
            <a:r>
              <a:rPr lang="de-DE" sz="800" dirty="0">
                <a:latin typeface="Helvetica" pitchFamily="2" charset="0"/>
              </a:rPr>
              <a:t> </a:t>
            </a:r>
            <a:r>
              <a:rPr lang="de-DE" sz="800" dirty="0" err="1">
                <a:latin typeface="Helvetica" pitchFamily="2" charset="0"/>
              </a:rPr>
              <a:t>vary</a:t>
            </a:r>
            <a:r>
              <a:rPr lang="de-DE" sz="800" dirty="0">
                <a:latin typeface="Helvetica" pitchFamily="2" charset="0"/>
              </a:rPr>
              <a:t> in </a:t>
            </a:r>
            <a:r>
              <a:rPr lang="de-DE" sz="800" dirty="0" err="1">
                <a:latin typeface="Helvetica" pitchFamily="2" charset="0"/>
              </a:rPr>
              <a:t>duration</a:t>
            </a:r>
            <a:r>
              <a:rPr lang="de-DE" sz="800" dirty="0">
                <a:latin typeface="Helvetica" pitchFamily="2" charset="0"/>
              </a:rPr>
              <a:t> - </a:t>
            </a:r>
            <a:r>
              <a:rPr lang="de-DE" sz="800" dirty="0" err="1">
                <a:latin typeface="Helvetica" pitchFamily="2" charset="0"/>
              </a:rPr>
              <a:t>modeling</a:t>
            </a:r>
            <a:r>
              <a:rPr lang="de-DE" sz="800" dirty="0">
                <a:latin typeface="Helvetica" pitchFamily="2" charset="0"/>
              </a:rPr>
              <a:t> </a:t>
            </a:r>
            <a:r>
              <a:rPr lang="de-DE" sz="800" dirty="0" err="1">
                <a:latin typeface="Helvetica" pitchFamily="2" charset="0"/>
              </a:rPr>
              <a:t>strategies</a:t>
            </a:r>
            <a:r>
              <a:rPr lang="de-DE" sz="800" dirty="0">
                <a:latin typeface="Helvetica" pitchFamily="2" charset="0"/>
              </a:rPr>
              <a:t> and </a:t>
            </a:r>
            <a:r>
              <a:rPr lang="de-DE" sz="800" dirty="0" err="1">
                <a:latin typeface="Helvetica" pitchFamily="2" charset="0"/>
              </a:rPr>
              <a:t>challenges</a:t>
            </a:r>
            <a:r>
              <a:rPr lang="de-DE" sz="800" dirty="0">
                <a:latin typeface="Helvetica" pitchFamily="2" charset="0"/>
              </a:rPr>
              <a:t>.” </a:t>
            </a:r>
            <a:r>
              <a:rPr lang="de-DE" sz="800" dirty="0" err="1">
                <a:latin typeface="Helvetica" pitchFamily="2" charset="0"/>
              </a:rPr>
              <a:t>by</a:t>
            </a:r>
            <a:r>
              <a:rPr lang="de-DE" sz="800" dirty="0">
                <a:latin typeface="Helvetica" pitchFamily="2" charset="0"/>
              </a:rPr>
              <a:t> </a:t>
            </a:r>
            <a:r>
              <a:rPr lang="de-DE" sz="800" dirty="0" err="1">
                <a:latin typeface="Helvetica" pitchFamily="2" charset="0"/>
              </a:rPr>
              <a:t>Skukies</a:t>
            </a:r>
            <a:r>
              <a:rPr lang="de-DE" sz="800" dirty="0">
                <a:latin typeface="Helvetica" pitchFamily="2" charset="0"/>
              </a:rPr>
              <a:t> et. al., 2025, Imaging </a:t>
            </a:r>
            <a:r>
              <a:rPr lang="de-DE" sz="800" dirty="0" err="1">
                <a:latin typeface="Helvetica" pitchFamily="2" charset="0"/>
              </a:rPr>
              <a:t>Neuroscience</a:t>
            </a:r>
            <a:r>
              <a:rPr lang="de-DE" sz="800" dirty="0">
                <a:latin typeface="Helvetica" pitchFamily="2" charset="0"/>
              </a:rPr>
              <a:t> 2025; 3 IMAG.a.1003. CC-BY-NC-ND 4.0.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0A40DB2-B357-EE66-1188-E9CB345EF099}"/>
              </a:ext>
            </a:extLst>
          </p:cNvPr>
          <p:cNvSpPr txBox="1"/>
          <p:nvPr/>
        </p:nvSpPr>
        <p:spPr>
          <a:xfrm>
            <a:off x="1128889" y="4383744"/>
            <a:ext cx="67120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 err="1">
                <a:latin typeface="Helvetica Light" panose="020B0403020202020204" pitchFamily="34" charset="0"/>
              </a:rPr>
              <a:t>Exemplary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simulated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duration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effects</a:t>
            </a:r>
            <a:r>
              <a:rPr lang="de-DE" sz="1200" dirty="0">
                <a:latin typeface="Helvetica Light" panose="020B0403020202020204" pitchFamily="34" charset="0"/>
              </a:rPr>
              <a:t> in different </a:t>
            </a:r>
            <a:r>
              <a:rPr lang="de-DE" sz="1200" dirty="0" err="1">
                <a:latin typeface="Helvetica Light" panose="020B0403020202020204" pitchFamily="34" charset="0"/>
              </a:rPr>
              <a:t>modalities</a:t>
            </a:r>
            <a:r>
              <a:rPr lang="de-DE" sz="1200" dirty="0">
                <a:latin typeface="Helvetica Light" panose="020B0403020202020204" pitchFamily="34" charset="0"/>
              </a:rPr>
              <a:t>. </a:t>
            </a:r>
          </a:p>
          <a:p>
            <a:r>
              <a:rPr lang="de-DE" sz="1200" dirty="0">
                <a:latin typeface="Helvetica Light" panose="020B0403020202020204" pitchFamily="34" charset="0"/>
              </a:rPr>
              <a:t>A: </a:t>
            </a:r>
            <a:r>
              <a:rPr lang="de-DE" sz="1200" dirty="0" err="1">
                <a:latin typeface="Helvetica Light" panose="020B0403020202020204" pitchFamily="34" charset="0"/>
              </a:rPr>
              <a:t>normalized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pupil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response</a:t>
            </a:r>
            <a:r>
              <a:rPr lang="de-DE" sz="1200" dirty="0">
                <a:latin typeface="Helvetica Light" panose="020B0403020202020204" pitchFamily="34" charset="0"/>
              </a:rPr>
              <a:t> (Snowden et al. 2016), B: BOLD </a:t>
            </a:r>
            <a:r>
              <a:rPr lang="de-DE" sz="1200" dirty="0" err="1">
                <a:latin typeface="Helvetica Light" panose="020B0403020202020204" pitchFamily="34" charset="0"/>
              </a:rPr>
              <a:t>response</a:t>
            </a:r>
            <a:r>
              <a:rPr lang="de-DE" sz="1200" dirty="0">
                <a:latin typeface="Helvetica Light" panose="020B0403020202020204" pitchFamily="34" charset="0"/>
              </a:rPr>
              <a:t> in fMRI (Glover 1999), </a:t>
            </a:r>
          </a:p>
          <a:p>
            <a:r>
              <a:rPr lang="de-DE" sz="1200" dirty="0">
                <a:latin typeface="Helvetica Light" panose="020B0403020202020204" pitchFamily="34" charset="0"/>
              </a:rPr>
              <a:t>C: </a:t>
            </a:r>
            <a:r>
              <a:rPr lang="de-DE" sz="1200" dirty="0" err="1">
                <a:latin typeface="Helvetica Light" panose="020B0403020202020204" pitchFamily="34" charset="0"/>
              </a:rPr>
              <a:t>fixation</a:t>
            </a:r>
            <a:r>
              <a:rPr lang="de-DE" sz="1200" dirty="0">
                <a:latin typeface="Helvetica Light" panose="020B0403020202020204" pitchFamily="34" charset="0"/>
              </a:rPr>
              <a:t> ERP (</a:t>
            </a:r>
            <a:r>
              <a:rPr lang="de-DE" sz="1200" dirty="0" err="1">
                <a:latin typeface="Helvetica Light" panose="020B0403020202020204" pitchFamily="34" charset="0"/>
              </a:rPr>
              <a:t>Skukies</a:t>
            </a:r>
            <a:r>
              <a:rPr lang="de-DE" sz="1200" dirty="0">
                <a:latin typeface="Helvetica Light" panose="020B0403020202020204" pitchFamily="34" charset="0"/>
              </a:rPr>
              <a:t> et. al. 2025, </a:t>
            </a:r>
            <a:r>
              <a:rPr lang="de-DE" sz="1200" dirty="0" err="1">
                <a:latin typeface="Helvetica Light" panose="020B0403020202020204" pitchFamily="34" charset="0"/>
              </a:rPr>
              <a:t>data</a:t>
            </a:r>
            <a:r>
              <a:rPr lang="de-DE" sz="1200" dirty="0">
                <a:latin typeface="Helvetica Light" panose="020B0403020202020204" pitchFamily="34" charset="0"/>
              </a:rPr>
              <a:t>: Gert et. al. 2022)</a:t>
            </a:r>
          </a:p>
        </p:txBody>
      </p:sp>
      <p:pic>
        <p:nvPicPr>
          <p:cNvPr id="9" name="Inhaltsplatzhalter 8" descr="Ein Bild, das Diagramm, Reihe, Origami, Muster enthält.&#10;&#10;KI-generierte Inhalte können fehlerhaft sein.">
            <a:extLst>
              <a:ext uri="{FF2B5EF4-FFF2-40B4-BE49-F238E27FC236}">
                <a16:creationId xmlns:a16="http://schemas.microsoft.com/office/drawing/2014/main" id="{87431618-93E9-617C-BAD2-B3EBB46B7E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889" y="943524"/>
            <a:ext cx="6886222" cy="3351576"/>
          </a:xfrm>
        </p:spPr>
      </p:pic>
    </p:spTree>
    <p:extLst>
      <p:ext uri="{BB962C8B-B14F-4D97-AF65-F5344CB8AC3E}">
        <p14:creationId xmlns:p14="http://schemas.microsoft.com/office/powerpoint/2010/main" val="15997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ADD5-60DC-8C23-F568-0B112572E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AA576-3AF7-FA06-69DD-F6C06EF9F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Study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30AB-5C72-29C8-E6FB-C0AB0E33BC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44CA26C2-7212-98AE-A693-5AA357B539BA}"/>
              </a:ext>
            </a:extLst>
          </p:cNvPr>
          <p:cNvSpPr txBox="1"/>
          <p:nvPr/>
        </p:nvSpPr>
        <p:spPr>
          <a:xfrm>
            <a:off x="232674" y="4601229"/>
            <a:ext cx="8678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>
                <a:latin typeface="Helvetica" pitchFamily="2" charset="0"/>
              </a:rPr>
              <a:t>6 </a:t>
            </a:r>
            <a:r>
              <a:rPr lang="de-DE" sz="1600" dirty="0" err="1">
                <a:latin typeface="Helvetica" pitchFamily="2" charset="0"/>
              </a:rPr>
              <a:t>blocks</a:t>
            </a:r>
            <a:r>
              <a:rPr lang="de-DE" sz="1600" dirty="0">
                <a:latin typeface="Helvetica" pitchFamily="2" charset="0"/>
              </a:rPr>
              <a:t> (3 </a:t>
            </a:r>
            <a:r>
              <a:rPr lang="de-DE" sz="1600" i="1" dirty="0">
                <a:latin typeface="Helvetica" pitchFamily="2" charset="0"/>
              </a:rPr>
              <a:t>blank</a:t>
            </a:r>
            <a:r>
              <a:rPr lang="de-DE" sz="1600" dirty="0">
                <a:latin typeface="Helvetica" pitchFamily="2" charset="0"/>
              </a:rPr>
              <a:t>, 3 </a:t>
            </a:r>
            <a:r>
              <a:rPr lang="de-DE" sz="1600" i="1" dirty="0" err="1">
                <a:latin typeface="Helvetica" pitchFamily="2" charset="0"/>
              </a:rPr>
              <a:t>no</a:t>
            </a:r>
            <a:r>
              <a:rPr lang="de-DE" sz="1600" i="1" dirty="0">
                <a:latin typeface="Helvetica" pitchFamily="2" charset="0"/>
              </a:rPr>
              <a:t>-blank </a:t>
            </a:r>
            <a:r>
              <a:rPr lang="de-DE" sz="1600" dirty="0" err="1">
                <a:latin typeface="Helvetica" pitchFamily="2" charset="0"/>
              </a:rPr>
              <a:t>condition</a:t>
            </a:r>
            <a:r>
              <a:rPr lang="de-DE" sz="1600" dirty="0">
                <a:latin typeface="Helvetica" pitchFamily="2" charset="0"/>
              </a:rPr>
              <a:t>) </a:t>
            </a:r>
            <a:r>
              <a:rPr lang="de-DE" sz="1600" dirty="0" err="1">
                <a:latin typeface="Helvetica" pitchFamily="2" charset="0"/>
              </a:rPr>
              <a:t>with</a:t>
            </a:r>
            <a:r>
              <a:rPr lang="de-DE" sz="1600" dirty="0">
                <a:latin typeface="Helvetica" pitchFamily="2" charset="0"/>
              </a:rPr>
              <a:t> 120 </a:t>
            </a:r>
            <a:r>
              <a:rPr lang="de-DE" sz="1600" dirty="0" err="1">
                <a:latin typeface="Helvetica" pitchFamily="2" charset="0"/>
              </a:rPr>
              <a:t>images</a:t>
            </a:r>
            <a:r>
              <a:rPr lang="de-DE" sz="1600" dirty="0">
                <a:latin typeface="Helvetica" pitchFamily="2" charset="0"/>
              </a:rPr>
              <a:t> </a:t>
            </a:r>
            <a:r>
              <a:rPr lang="de-DE" sz="1600" dirty="0" err="1">
                <a:latin typeface="Helvetica" pitchFamily="2" charset="0"/>
              </a:rPr>
              <a:t>each</a:t>
            </a:r>
            <a:r>
              <a:rPr lang="de-DE" sz="1600" dirty="0">
                <a:latin typeface="Helvetica" pitchFamily="2" charset="0"/>
              </a:rPr>
              <a:t> </a:t>
            </a:r>
            <a:r>
              <a:rPr lang="de-DE" sz="1600" dirty="0" err="1">
                <a:latin typeface="Helvetica" pitchFamily="2" charset="0"/>
              </a:rPr>
              <a:t>were</a:t>
            </a:r>
            <a:r>
              <a:rPr lang="de-DE" sz="1600" dirty="0">
                <a:latin typeface="Helvetica" pitchFamily="2" charset="0"/>
              </a:rPr>
              <a:t> </a:t>
            </a:r>
            <a:r>
              <a:rPr lang="de-DE" sz="1600" dirty="0" err="1">
                <a:latin typeface="Helvetica" pitchFamily="2" charset="0"/>
              </a:rPr>
              <a:t>conducted</a:t>
            </a:r>
            <a:r>
              <a:rPr lang="de-DE" sz="1600" dirty="0">
                <a:latin typeface="Helvetica" pitchFamily="2" charset="0"/>
              </a:rPr>
              <a:t> per </a:t>
            </a:r>
            <a:r>
              <a:rPr lang="de-DE" sz="1600" dirty="0" err="1">
                <a:latin typeface="Helvetica" pitchFamily="2" charset="0"/>
              </a:rPr>
              <a:t>participant</a:t>
            </a:r>
            <a:endParaRPr lang="de-DE" sz="1600" dirty="0">
              <a:latin typeface="Helvetica" pitchFamily="2" charset="0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46288061-2327-515A-AF8C-FE8227624891}"/>
              </a:ext>
            </a:extLst>
          </p:cNvPr>
          <p:cNvGrpSpPr/>
          <p:nvPr/>
        </p:nvGrpSpPr>
        <p:grpSpPr>
          <a:xfrm>
            <a:off x="54179" y="877614"/>
            <a:ext cx="9035642" cy="3444122"/>
            <a:chOff x="54179" y="944880"/>
            <a:chExt cx="9035642" cy="3444122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E0FDD504-A04C-0478-BCC9-40DE2A8F86A4}"/>
                </a:ext>
              </a:extLst>
            </p:cNvPr>
            <p:cNvSpPr txBox="1"/>
            <p:nvPr/>
          </p:nvSpPr>
          <p:spPr>
            <a:xfrm>
              <a:off x="529512" y="4112003"/>
              <a:ext cx="3829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>
                  <a:latin typeface="Helvetica Light" panose="020B0403020202020204" pitchFamily="34" charset="0"/>
                </a:rPr>
                <a:t>Trials </a:t>
              </a:r>
              <a:r>
                <a:rPr lang="de-DE" sz="1200" dirty="0" err="1">
                  <a:latin typeface="Helvetica Light" panose="020B0403020202020204" pitchFamily="34" charset="0"/>
                </a:rPr>
                <a:t>without</a:t>
              </a:r>
              <a:r>
                <a:rPr lang="de-DE" sz="1200" dirty="0">
                  <a:latin typeface="Helvetica Light" panose="020B0403020202020204" pitchFamily="34" charset="0"/>
                </a:rPr>
                <a:t> </a:t>
              </a:r>
              <a:r>
                <a:rPr lang="de-DE" sz="1200" dirty="0" err="1">
                  <a:latin typeface="Helvetica Light" panose="020B0403020202020204" pitchFamily="34" charset="0"/>
                </a:rPr>
                <a:t>blanks</a:t>
              </a:r>
              <a:r>
                <a:rPr lang="de-DE" sz="1200" dirty="0">
                  <a:latin typeface="Helvetica Light" panose="020B0403020202020204" pitchFamily="34" charset="0"/>
                </a:rPr>
                <a:t> in-</a:t>
              </a:r>
              <a:r>
                <a:rPr lang="de-DE" sz="1200" dirty="0" err="1">
                  <a:latin typeface="Helvetica Light" panose="020B0403020202020204" pitchFamily="34" charset="0"/>
                </a:rPr>
                <a:t>between</a:t>
              </a:r>
              <a:r>
                <a:rPr lang="de-DE" sz="1200" dirty="0">
                  <a:latin typeface="Helvetica Light" panose="020B0403020202020204" pitchFamily="34" charset="0"/>
                </a:rPr>
                <a:t> (</a:t>
              </a:r>
              <a:r>
                <a:rPr lang="de-DE" sz="1200" i="1" dirty="0" err="1">
                  <a:latin typeface="Helvetica Light" panose="020B0403020202020204" pitchFamily="34" charset="0"/>
                </a:rPr>
                <a:t>no</a:t>
              </a:r>
              <a:r>
                <a:rPr lang="de-DE" sz="1200" i="1" dirty="0">
                  <a:latin typeface="Helvetica Light" panose="020B0403020202020204" pitchFamily="34" charset="0"/>
                </a:rPr>
                <a:t>-blank</a:t>
              </a:r>
              <a:r>
                <a:rPr lang="de-DE" sz="1200" dirty="0">
                  <a:latin typeface="Helvetica Light" panose="020B0403020202020204" pitchFamily="34" charset="0"/>
                </a:rPr>
                <a:t> </a:t>
              </a:r>
              <a:r>
                <a:rPr lang="de-DE" sz="1200" dirty="0" err="1">
                  <a:latin typeface="Helvetica Light" panose="020B0403020202020204" pitchFamily="34" charset="0"/>
                </a:rPr>
                <a:t>condition</a:t>
              </a:r>
              <a:r>
                <a:rPr lang="de-DE" sz="1200" dirty="0">
                  <a:latin typeface="Helvetica Light" panose="020B0403020202020204" pitchFamily="34" charset="0"/>
                </a:rPr>
                <a:t>)</a:t>
              </a: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385473F9-7296-9C28-31A0-A6102312F0D6}"/>
                </a:ext>
              </a:extLst>
            </p:cNvPr>
            <p:cNvSpPr txBox="1"/>
            <p:nvPr/>
          </p:nvSpPr>
          <p:spPr>
            <a:xfrm>
              <a:off x="5130803" y="4111404"/>
              <a:ext cx="34836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>
                  <a:latin typeface="Helvetica Light" panose="020B0403020202020204" pitchFamily="34" charset="0"/>
                </a:rPr>
                <a:t>Trials </a:t>
              </a:r>
              <a:r>
                <a:rPr lang="de-DE" sz="1200" dirty="0" err="1">
                  <a:latin typeface="Helvetica Light" panose="020B0403020202020204" pitchFamily="34" charset="0"/>
                </a:rPr>
                <a:t>with</a:t>
              </a:r>
              <a:r>
                <a:rPr lang="de-DE" sz="1200" dirty="0">
                  <a:latin typeface="Helvetica Light" panose="020B0403020202020204" pitchFamily="34" charset="0"/>
                </a:rPr>
                <a:t> </a:t>
              </a:r>
              <a:r>
                <a:rPr lang="de-DE" sz="1200" dirty="0" err="1">
                  <a:latin typeface="Helvetica Light" panose="020B0403020202020204" pitchFamily="34" charset="0"/>
                </a:rPr>
                <a:t>blanks</a:t>
              </a:r>
              <a:r>
                <a:rPr lang="de-DE" sz="1200" dirty="0">
                  <a:latin typeface="Helvetica Light" panose="020B0403020202020204" pitchFamily="34" charset="0"/>
                </a:rPr>
                <a:t> in-</a:t>
              </a:r>
              <a:r>
                <a:rPr lang="de-DE" sz="1200" dirty="0" err="1">
                  <a:latin typeface="Helvetica Light" panose="020B0403020202020204" pitchFamily="34" charset="0"/>
                </a:rPr>
                <a:t>between</a:t>
              </a:r>
              <a:r>
                <a:rPr lang="de-DE" sz="1200" dirty="0">
                  <a:latin typeface="Helvetica Light" panose="020B0403020202020204" pitchFamily="34" charset="0"/>
                </a:rPr>
                <a:t> (</a:t>
              </a:r>
              <a:r>
                <a:rPr lang="de-DE" sz="1200" i="1" dirty="0">
                  <a:latin typeface="Helvetica Light" panose="020B0403020202020204" pitchFamily="34" charset="0"/>
                </a:rPr>
                <a:t>blank</a:t>
              </a:r>
              <a:r>
                <a:rPr lang="de-DE" sz="1200" dirty="0">
                  <a:latin typeface="Helvetica Light" panose="020B0403020202020204" pitchFamily="34" charset="0"/>
                </a:rPr>
                <a:t> </a:t>
              </a:r>
              <a:r>
                <a:rPr lang="de-DE" sz="1200" dirty="0" err="1">
                  <a:latin typeface="Helvetica Light" panose="020B0403020202020204" pitchFamily="34" charset="0"/>
                </a:rPr>
                <a:t>condition</a:t>
              </a:r>
              <a:r>
                <a:rPr lang="de-DE" sz="1200" dirty="0">
                  <a:latin typeface="Helvetica Light" panose="020B0403020202020204" pitchFamily="34" charset="0"/>
                </a:rPr>
                <a:t>)</a:t>
              </a:r>
            </a:p>
          </p:txBody>
        </p:sp>
        <p:pic>
          <p:nvPicPr>
            <p:cNvPr id="13" name="Grafik 12" descr="Ein Bild, das Diagramm, Plan, Reihe, Text enthält.&#10;&#10;KI-generierte Inhalte können fehlerhaft sein.">
              <a:extLst>
                <a:ext uri="{FF2B5EF4-FFF2-40B4-BE49-F238E27FC236}">
                  <a16:creationId xmlns:a16="http://schemas.microsoft.com/office/drawing/2014/main" id="{5FE4B4B6-D530-ED8D-8261-EA06C5648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104"/>
            <a:stretch>
              <a:fillRect/>
            </a:stretch>
          </p:blipFill>
          <p:spPr>
            <a:xfrm>
              <a:off x="54179" y="944880"/>
              <a:ext cx="9035642" cy="3189672"/>
            </a:xfrm>
            <a:prstGeom prst="rect">
              <a:avLst/>
            </a:prstGeom>
          </p:spPr>
        </p:pic>
      </p:grp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0C76971-9147-7D1D-6142-2223046A5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149" y="585131"/>
            <a:ext cx="8493542" cy="664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Task</a:t>
            </a:r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597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ED40-79C9-7C8A-B4F9-DF27D1592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417D4-FD4E-4FC8-EAB8-4C806B51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Study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BD22F-2F78-1281-C1D8-AB40D3254E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930B0AB-B031-6941-C43E-92F71954E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Trial distributions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2644F4-336D-6961-B993-65242FB36E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9149" y="1383011"/>
            <a:ext cx="81280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A517FA2-BA50-2886-9C4B-DAAEC1A5033F}"/>
              </a:ext>
            </a:extLst>
          </p:cNvPr>
          <p:cNvSpPr txBox="1"/>
          <p:nvPr/>
        </p:nvSpPr>
        <p:spPr>
          <a:xfrm>
            <a:off x="936848" y="4635462"/>
            <a:ext cx="3006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latin typeface="Helvetica Light" panose="020B0403020202020204" pitchFamily="34" charset="0"/>
              </a:rPr>
              <a:t>From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i="1" dirty="0">
                <a:latin typeface="Helvetica Light" panose="020B0403020202020204" pitchFamily="34" charset="0"/>
              </a:rPr>
              <a:t>blank</a:t>
            </a:r>
            <a:r>
              <a:rPr lang="de-DE" sz="1200" dirty="0">
                <a:latin typeface="Helvetica Light" panose="020B0403020202020204" pitchFamily="34" charset="0"/>
              </a:rPr>
              <a:t> and </a:t>
            </a:r>
            <a:r>
              <a:rPr lang="de-DE" sz="1200" i="1" dirty="0" err="1">
                <a:latin typeface="Helvetica Light" panose="020B0403020202020204" pitchFamily="34" charset="0"/>
              </a:rPr>
              <a:t>no</a:t>
            </a:r>
            <a:r>
              <a:rPr lang="de-DE" sz="1200" i="1" dirty="0">
                <a:latin typeface="Helvetica Light" panose="020B0403020202020204" pitchFamily="34" charset="0"/>
              </a:rPr>
              <a:t>-blank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condition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trials</a:t>
            </a:r>
            <a:endParaRPr lang="de-DE" sz="1200" dirty="0">
              <a:latin typeface="Helvetica Light" panose="020B0403020202020204" pitchFamily="34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4A4395C-1F5A-4CE2-5465-DBC4ADCFC181}"/>
              </a:ext>
            </a:extLst>
          </p:cNvPr>
          <p:cNvSpPr txBox="1"/>
          <p:nvPr/>
        </p:nvSpPr>
        <p:spPr>
          <a:xfrm>
            <a:off x="5200984" y="4634211"/>
            <a:ext cx="30061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 err="1">
                <a:latin typeface="Helvetica Light" panose="020B0403020202020204" pitchFamily="34" charset="0"/>
              </a:rPr>
              <a:t>From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only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i="1" dirty="0">
                <a:latin typeface="Helvetica Light" panose="020B0403020202020204" pitchFamily="34" charset="0"/>
              </a:rPr>
              <a:t>blank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condition</a:t>
            </a:r>
            <a:r>
              <a:rPr lang="de-DE" sz="1200" dirty="0">
                <a:latin typeface="Helvetica Light" panose="020B0403020202020204" pitchFamily="34" charset="0"/>
              </a:rPr>
              <a:t> </a:t>
            </a:r>
            <a:r>
              <a:rPr lang="de-DE" sz="1200" dirty="0" err="1">
                <a:latin typeface="Helvetica Light" panose="020B0403020202020204" pitchFamily="34" charset="0"/>
              </a:rPr>
              <a:t>trials</a:t>
            </a:r>
            <a:endParaRPr lang="de-DE" sz="12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1524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Study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89336F-E6F4-496E-9F1A-A2112C68C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Participants</a:t>
            </a:r>
            <a:endParaRPr lang="en-US" b="1" dirty="0"/>
          </a:p>
          <a:p>
            <a:r>
              <a:rPr lang="en-US" dirty="0"/>
              <a:t> 38 participants (all right-handed)</a:t>
            </a:r>
          </a:p>
          <a:p>
            <a:r>
              <a:rPr lang="en-US" dirty="0"/>
              <a:t> 14 female, 24 male</a:t>
            </a:r>
          </a:p>
          <a:p>
            <a:r>
              <a:rPr lang="en-US" dirty="0"/>
              <a:t> Age: 21 - 36 years (mean: 27.2)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EEG Recording</a:t>
            </a:r>
          </a:p>
          <a:p>
            <a:r>
              <a:rPr lang="en-US" dirty="0"/>
              <a:t> Conducted in SimTech building with usual hardware</a:t>
            </a:r>
          </a:p>
          <a:p>
            <a:r>
              <a:rPr lang="en-US" dirty="0"/>
              <a:t> </a:t>
            </a:r>
            <a:r>
              <a:rPr lang="de-DE" dirty="0"/>
              <a:t>Cap </a:t>
            </a:r>
            <a:r>
              <a:rPr lang="de-DE" dirty="0" err="1"/>
              <a:t>placed</a:t>
            </a:r>
            <a:r>
              <a:rPr lang="de-DE" dirty="0"/>
              <a:t> </a:t>
            </a:r>
            <a:r>
              <a:rPr lang="de-DE" dirty="0" err="1"/>
              <a:t>according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10/5 </a:t>
            </a:r>
            <a:r>
              <a:rPr lang="de-DE" dirty="0" err="1"/>
              <a:t>system</a:t>
            </a:r>
            <a:r>
              <a:rPr lang="de-DE" dirty="0"/>
              <a:t> (60 </a:t>
            </a:r>
            <a:r>
              <a:rPr lang="de-DE" dirty="0" err="1"/>
              <a:t>scalp</a:t>
            </a:r>
            <a:r>
              <a:rPr lang="de-DE" dirty="0"/>
              <a:t> </a:t>
            </a:r>
            <a:r>
              <a:rPr lang="de-DE" dirty="0" err="1"/>
              <a:t>electrodes</a:t>
            </a:r>
            <a:r>
              <a:rPr lang="de-DE" dirty="0"/>
              <a:t> </a:t>
            </a:r>
            <a:r>
              <a:rPr lang="de-DE" dirty="0" err="1"/>
              <a:t>recorded</a:t>
            </a:r>
            <a:r>
              <a:rPr lang="de-DE" dirty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032" name="Picture 8" descr="Free Users SVG, PNG Icon, Symbol. Download Image.">
            <a:extLst>
              <a:ext uri="{FF2B5EF4-FFF2-40B4-BE49-F238E27FC236}">
                <a16:creationId xmlns:a16="http://schemas.microsoft.com/office/drawing/2014/main" id="{1A2A133F-C7B5-E630-E27A-46E29DEDB0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1601" y="685799"/>
            <a:ext cx="421607" cy="42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Eeg - Kostenlose technologie-Icons">
            <a:extLst>
              <a:ext uri="{FF2B5EF4-FFF2-40B4-BE49-F238E27FC236}">
                <a16:creationId xmlns:a16="http://schemas.microsoft.com/office/drawing/2014/main" id="{B09D4682-CCCD-A015-5209-8BDEB80D7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6015" y="2984113"/>
            <a:ext cx="422248" cy="42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471BB62-54A1-8BB9-415C-D950E9393DEB}"/>
              </a:ext>
            </a:extLst>
          </p:cNvPr>
          <p:cNvGrpSpPr/>
          <p:nvPr/>
        </p:nvGrpSpPr>
        <p:grpSpPr>
          <a:xfrm>
            <a:off x="6234851" y="1107407"/>
            <a:ext cx="2520000" cy="2122927"/>
            <a:chOff x="6234851" y="1033154"/>
            <a:chExt cx="2520000" cy="2122927"/>
          </a:xfrm>
        </p:grpSpPr>
        <p:pic>
          <p:nvPicPr>
            <p:cNvPr id="5" name="Grafik 4" descr="Ein Bild, das Text, Entwurf, Diagramm, Kreis enthält.&#10;&#10;KI-generierte Inhalte können fehlerhaft sein.">
              <a:extLst>
                <a:ext uri="{FF2B5EF4-FFF2-40B4-BE49-F238E27FC236}">
                  <a16:creationId xmlns:a16="http://schemas.microsoft.com/office/drawing/2014/main" id="{BF50EA55-2A02-EB44-FF75-AE5B96D21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75" t="21529" r="32493" b="27867"/>
            <a:stretch>
              <a:fillRect/>
            </a:stretch>
          </p:blipFill>
          <p:spPr>
            <a:xfrm>
              <a:off x="6234851" y="1033154"/>
              <a:ext cx="2520000" cy="1999817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E4E6EF52-4890-4405-DC5C-9FDFAFAA8F6B}"/>
                </a:ext>
              </a:extLst>
            </p:cNvPr>
            <p:cNvSpPr txBox="1"/>
            <p:nvPr/>
          </p:nvSpPr>
          <p:spPr>
            <a:xfrm>
              <a:off x="6470262" y="2909860"/>
              <a:ext cx="204917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 err="1">
                  <a:latin typeface="Helvetica Light" panose="020B0403020202020204" pitchFamily="34" charset="0"/>
                </a:rPr>
                <a:t>Topoplot</a:t>
              </a:r>
              <a:r>
                <a:rPr lang="de-DE" sz="1000" dirty="0">
                  <a:latin typeface="Helvetica Light" panose="020B0403020202020204" pitchFamily="34" charset="0"/>
                </a:rPr>
                <a:t> </a:t>
              </a:r>
              <a:r>
                <a:rPr lang="de-DE" sz="1000" dirty="0" err="1">
                  <a:latin typeface="Helvetica Light" panose="020B0403020202020204" pitchFamily="34" charset="0"/>
                </a:rPr>
                <a:t>of</a:t>
              </a:r>
              <a:r>
                <a:rPr lang="de-DE" sz="1000" dirty="0">
                  <a:latin typeface="Helvetica Light" panose="020B0403020202020204" pitchFamily="34" charset="0"/>
                </a:rPr>
                <a:t> </a:t>
              </a:r>
              <a:r>
                <a:rPr lang="de-DE" sz="1000" dirty="0" err="1">
                  <a:latin typeface="Helvetica Light" panose="020B0403020202020204" pitchFamily="34" charset="0"/>
                </a:rPr>
                <a:t>recorded</a:t>
              </a:r>
              <a:r>
                <a:rPr lang="de-DE" sz="1000" dirty="0">
                  <a:latin typeface="Helvetica Light" panose="020B0403020202020204" pitchFamily="34" charset="0"/>
                </a:rPr>
                <a:t> </a:t>
              </a:r>
              <a:r>
                <a:rPr lang="de-DE" sz="1000" dirty="0" err="1">
                  <a:latin typeface="Helvetica Light" panose="020B0403020202020204" pitchFamily="34" charset="0"/>
                </a:rPr>
                <a:t>electrodes</a:t>
              </a:r>
              <a:endParaRPr lang="de-DE" sz="1000" dirty="0">
                <a:latin typeface="Helvetica Light" panose="020B0403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8218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6A077B-2C50-4380-8F01-CE4C6615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Goals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thesis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B39BBA9-E961-31D8-A6EE-5975FBDB4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Scientific Goal:</a:t>
            </a:r>
            <a:r>
              <a:rPr lang="de-DE" dirty="0"/>
              <a:t> </a:t>
            </a:r>
            <a:r>
              <a:rPr lang="de-DE" dirty="0" err="1"/>
              <a:t>Does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face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 </a:t>
            </a:r>
            <a:r>
              <a:rPr lang="de-DE" dirty="0" err="1"/>
              <a:t>influence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brain</a:t>
            </a:r>
            <a:r>
              <a:rPr lang="de-DE" dirty="0"/>
              <a:t> </a:t>
            </a:r>
            <a:r>
              <a:rPr lang="de-DE" dirty="0" err="1"/>
              <a:t>response</a:t>
            </a:r>
            <a:r>
              <a:rPr lang="de-DE" dirty="0"/>
              <a:t>?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 err="1"/>
              <a:t>Methodological</a:t>
            </a:r>
            <a:r>
              <a:rPr lang="de-DE" b="1" dirty="0"/>
              <a:t> Goals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Assess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deconvolution-based</a:t>
            </a:r>
            <a:r>
              <a:rPr lang="de-DE" dirty="0"/>
              <a:t> </a:t>
            </a:r>
            <a:r>
              <a:rPr lang="de-DE" dirty="0" err="1"/>
              <a:t>overlap</a:t>
            </a:r>
            <a:r>
              <a:rPr lang="de-DE" dirty="0"/>
              <a:t> </a:t>
            </a:r>
            <a:r>
              <a:rPr lang="de-DE" dirty="0" err="1"/>
              <a:t>correction</a:t>
            </a:r>
            <a:r>
              <a:rPr lang="de-DE" dirty="0"/>
              <a:t> in </a:t>
            </a:r>
            <a:r>
              <a:rPr lang="de-DE" dirty="0" err="1"/>
              <a:t>combination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stimulus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modelling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linear and non-linear </a:t>
            </a:r>
            <a:r>
              <a:rPr lang="de-DE" dirty="0" err="1"/>
              <a:t>modeling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stimulus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effects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Investigate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influence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‘</a:t>
            </a:r>
            <a:r>
              <a:rPr lang="de-DE" dirty="0" err="1"/>
              <a:t>blanks</a:t>
            </a:r>
            <a:r>
              <a:rPr lang="de-DE" dirty="0"/>
              <a:t>‘ </a:t>
            </a:r>
            <a:r>
              <a:rPr lang="de-DE" dirty="0" err="1"/>
              <a:t>between</a:t>
            </a:r>
            <a:r>
              <a:rPr lang="de-DE" dirty="0"/>
              <a:t> </a:t>
            </a:r>
            <a:r>
              <a:rPr lang="de-DE" dirty="0" err="1"/>
              <a:t>stimuli</a:t>
            </a:r>
            <a:r>
              <a:rPr lang="de-DE" dirty="0"/>
              <a:t> (</a:t>
            </a:r>
            <a:r>
              <a:rPr lang="de-DE" dirty="0" err="1"/>
              <a:t>effect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ISIs)</a:t>
            </a:r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882AB7-5B1D-A35E-1CF7-803789DCC7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625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D4F62F-BB06-A28B-B065-46E0ADA2F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D5B260-5D01-89E3-86D4-C8BCC2798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Downsample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250Hz (</a:t>
            </a:r>
            <a:r>
              <a:rPr lang="de-DE" dirty="0" err="1"/>
              <a:t>initially</a:t>
            </a:r>
            <a:r>
              <a:rPr lang="de-DE" dirty="0"/>
              <a:t> 1000Hz </a:t>
            </a:r>
            <a:r>
              <a:rPr lang="de-DE" dirty="0" err="1"/>
              <a:t>recording</a:t>
            </a:r>
            <a:r>
              <a:rPr lang="de-DE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Remove 50Hz </a:t>
            </a:r>
            <a:r>
              <a:rPr lang="de-DE" dirty="0" err="1"/>
              <a:t>line</a:t>
            </a:r>
            <a:r>
              <a:rPr lang="de-DE" dirty="0"/>
              <a:t> </a:t>
            </a:r>
            <a:r>
              <a:rPr lang="de-DE" dirty="0" err="1"/>
              <a:t>noise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Remove </a:t>
            </a:r>
            <a:r>
              <a:rPr lang="de-DE" dirty="0" err="1"/>
              <a:t>bad</a:t>
            </a:r>
            <a:r>
              <a:rPr lang="de-DE" dirty="0"/>
              <a:t> </a:t>
            </a:r>
            <a:r>
              <a:rPr lang="de-DE" dirty="0" err="1"/>
              <a:t>channels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Rereferencing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Remove large </a:t>
            </a:r>
            <a:r>
              <a:rPr lang="de-DE" dirty="0" err="1"/>
              <a:t>spikes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Independent </a:t>
            </a:r>
            <a:r>
              <a:rPr lang="de-DE" dirty="0" err="1"/>
              <a:t>Component</a:t>
            </a:r>
            <a:r>
              <a:rPr lang="de-DE" dirty="0"/>
              <a:t> Analysis (ICA)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Continuous</a:t>
            </a:r>
            <a:r>
              <a:rPr lang="de-DE" dirty="0"/>
              <a:t> ASR </a:t>
            </a:r>
            <a:r>
              <a:rPr lang="de-DE" dirty="0" err="1"/>
              <a:t>rejection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Interpolate</a:t>
            </a:r>
            <a:r>
              <a:rPr lang="de-DE" dirty="0"/>
              <a:t> </a:t>
            </a:r>
            <a:r>
              <a:rPr lang="de-DE" dirty="0" err="1"/>
              <a:t>bad</a:t>
            </a:r>
            <a:r>
              <a:rPr lang="de-DE" dirty="0"/>
              <a:t> </a:t>
            </a:r>
            <a:r>
              <a:rPr lang="de-DE" dirty="0" err="1"/>
              <a:t>channels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</a:t>
            </a:r>
            <a:r>
              <a:rPr lang="de-DE" dirty="0" err="1"/>
              <a:t>Apply</a:t>
            </a:r>
            <a:r>
              <a:rPr lang="de-DE" dirty="0"/>
              <a:t> 0.1Hz </a:t>
            </a:r>
            <a:r>
              <a:rPr lang="de-DE" dirty="0" err="1"/>
              <a:t>Highpass</a:t>
            </a:r>
            <a:r>
              <a:rPr lang="de-DE" dirty="0"/>
              <a:t> </a:t>
            </a:r>
            <a:r>
              <a:rPr lang="de-DE" dirty="0" err="1"/>
              <a:t>filter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41E556-BBA2-D28D-28ED-83506CA0D9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146" name="Picture 2" descr="Matlab logo transparent PNG - StickPNG">
            <a:extLst>
              <a:ext uri="{FF2B5EF4-FFF2-40B4-BE49-F238E27FC236}">
                <a16:creationId xmlns:a16="http://schemas.microsoft.com/office/drawing/2014/main" id="{B8E76DC3-BB0A-D4AA-F77F-5D99E16D7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957" y="778328"/>
            <a:ext cx="16637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75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EBF24-ABE4-C37D-B384-D9A77B6C6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99016-E578-6BF9-9CA8-BB9EC6F0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r>
              <a:rPr lang="de-DE" dirty="0"/>
              <a:t> Pipeline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587C9C5-F56B-C225-6FDE-A65DF087C3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146" name="Picture 2" descr="Matlab logo transparent PNG - StickPNG">
            <a:extLst>
              <a:ext uri="{FF2B5EF4-FFF2-40B4-BE49-F238E27FC236}">
                <a16:creationId xmlns:a16="http://schemas.microsoft.com/office/drawing/2014/main" id="{AF5AC6AA-460A-F475-23E4-FC5150686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360" y="634575"/>
            <a:ext cx="16637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0DBAFB-5584-A403-0E7A-D71A21EE31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458930" y="714523"/>
            <a:ext cx="5329414" cy="4285954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34CA45B6-CE0F-0D40-FF0F-F653E97B968D}"/>
              </a:ext>
            </a:extLst>
          </p:cNvPr>
          <p:cNvSpPr txBox="1"/>
          <p:nvPr/>
        </p:nvSpPr>
        <p:spPr>
          <a:xfrm>
            <a:off x="7593462" y="1888375"/>
            <a:ext cx="9474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de-DE" sz="1600" b="1" i="0" dirty="0">
                <a:solidFill>
                  <a:srgbClr val="5A5A5A"/>
                </a:solidFill>
                <a:effectLst/>
                <a:latin typeface="Roboto" panose="02000000000000000000" pitchFamily="2" charset="0"/>
              </a:rPr>
              <a:t>EEGLAB</a:t>
            </a:r>
          </a:p>
        </p:txBody>
      </p:sp>
    </p:spTree>
    <p:extLst>
      <p:ext uri="{BB962C8B-B14F-4D97-AF65-F5344CB8AC3E}">
        <p14:creationId xmlns:p14="http://schemas.microsoft.com/office/powerpoint/2010/main" val="3712602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286B188-A51F-1FBE-959D-BF13DEA2B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4B89E-B0E1-3908-A2A0-3E3C01D7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3853DA8-1049-8388-8250-C384AB6602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4C210A6-9AFB-603D-167A-14D7EACA3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61" r="25090"/>
          <a:stretch>
            <a:fillRect/>
          </a:stretch>
        </p:blipFill>
        <p:spPr>
          <a:xfrm>
            <a:off x="389152" y="1676381"/>
            <a:ext cx="3867165" cy="2915558"/>
          </a:xfrm>
          <a:prstGeom prst="rect">
            <a:avLst/>
          </a:prstGeom>
        </p:spPr>
      </p:pic>
      <p:pic>
        <p:nvPicPr>
          <p:cNvPr id="16" name="Grafik 15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7268E9C0-AF30-5A8E-DB0E-509E988CF7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59" r="25292"/>
          <a:stretch>
            <a:fillRect/>
          </a:stretch>
        </p:blipFill>
        <p:spPr>
          <a:xfrm>
            <a:off x="4572000" y="1676381"/>
            <a:ext cx="3867167" cy="2915560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C41A598A-ECF4-9582-48AA-2E1371A0E6F7}"/>
              </a:ext>
            </a:extLst>
          </p:cNvPr>
          <p:cNvSpPr txBox="1"/>
          <p:nvPr/>
        </p:nvSpPr>
        <p:spPr>
          <a:xfrm>
            <a:off x="389149" y="4474126"/>
            <a:ext cx="24302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latin typeface="Helvetica Light" panose="020B0403020202020204" pitchFamily="34" charset="0"/>
              </a:rPr>
              <a:t>Subject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with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noisy</a:t>
            </a:r>
            <a:r>
              <a:rPr lang="de-DE" sz="900" dirty="0">
                <a:latin typeface="Helvetica Light" panose="020B0403020202020204" pitchFamily="34" charset="0"/>
              </a:rPr>
              <a:t> EEG </a:t>
            </a:r>
            <a:r>
              <a:rPr lang="de-DE" sz="900" dirty="0" err="1">
                <a:latin typeface="Helvetica Light" panose="020B0403020202020204" pitchFamily="34" charset="0"/>
              </a:rPr>
              <a:t>data</a:t>
            </a:r>
            <a:endParaRPr lang="de-DE" sz="900" dirty="0">
              <a:latin typeface="Helvetica Light" panose="020B0403020202020204" pitchFamily="34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15FF24B-5758-A2E8-1597-66BF59E248CB}"/>
              </a:ext>
            </a:extLst>
          </p:cNvPr>
          <p:cNvSpPr txBox="1"/>
          <p:nvPr/>
        </p:nvSpPr>
        <p:spPr>
          <a:xfrm>
            <a:off x="4635920" y="4474126"/>
            <a:ext cx="262698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900" dirty="0" err="1">
                <a:latin typeface="Helvetica Light" panose="020B0403020202020204" pitchFamily="34" charset="0"/>
              </a:rPr>
              <a:t>Subject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with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tiny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alpha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peak</a:t>
            </a:r>
            <a:r>
              <a:rPr lang="de-DE" sz="900" dirty="0">
                <a:latin typeface="Helvetica Light" panose="020B0403020202020204" pitchFamily="34" charset="0"/>
              </a:rPr>
              <a:t> and </a:t>
            </a:r>
            <a:r>
              <a:rPr lang="de-DE" sz="900" dirty="0" err="1">
                <a:latin typeface="Helvetica Light" panose="020B0403020202020204" pitchFamily="34" charset="0"/>
              </a:rPr>
              <a:t>small</a:t>
            </a:r>
            <a:r>
              <a:rPr lang="de-DE" sz="900" dirty="0">
                <a:latin typeface="Helvetica Light" panose="020B0403020202020204" pitchFamily="34" charset="0"/>
              </a:rPr>
              <a:t> </a:t>
            </a:r>
            <a:r>
              <a:rPr lang="de-DE" sz="900" dirty="0" err="1">
                <a:latin typeface="Helvetica Light" panose="020B0403020202020204" pitchFamily="34" charset="0"/>
              </a:rPr>
              <a:t>spikes</a:t>
            </a:r>
            <a:endParaRPr lang="de-DE" sz="900" dirty="0">
              <a:latin typeface="Helvetica Light" panose="020B0403020202020204" pitchFamily="34" charset="0"/>
            </a:endParaRPr>
          </a:p>
        </p:txBody>
      </p:sp>
      <p:pic>
        <p:nvPicPr>
          <p:cNvPr id="20" name="Grafik 19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C594EEE9-E300-FC04-7C50-4CE27F660E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44" b="77596"/>
          <a:stretch>
            <a:fillRect/>
          </a:stretch>
        </p:blipFill>
        <p:spPr>
          <a:xfrm>
            <a:off x="2631303" y="409457"/>
            <a:ext cx="3756265" cy="83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034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870615A-AB23-2CBB-21CC-85B6477E5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AE1BDE-7DDC-AA8F-1215-7ADCB4182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Preprocessing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8D4493-38EE-2E3B-1E6C-6F13CBA6F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sz="1600" b="1" dirty="0"/>
          </a:p>
          <a:p>
            <a:pPr marL="0" indent="0">
              <a:buNone/>
            </a:pPr>
            <a:endParaRPr lang="de-DE" sz="800" dirty="0"/>
          </a:p>
          <a:p>
            <a:pPr marL="0" indent="0">
              <a:buNone/>
            </a:pPr>
            <a:r>
              <a:rPr lang="de-DE" b="1" dirty="0" err="1"/>
              <a:t>Criteria</a:t>
            </a:r>
            <a:r>
              <a:rPr lang="de-DE" b="1" dirty="0"/>
              <a:t>: </a:t>
            </a:r>
            <a:r>
              <a:rPr lang="de-DE" dirty="0" err="1"/>
              <a:t>Flatline</a:t>
            </a:r>
            <a:r>
              <a:rPr lang="de-DE" dirty="0"/>
              <a:t> &gt;5s, </a:t>
            </a:r>
            <a:r>
              <a:rPr lang="de-DE" dirty="0" err="1"/>
              <a:t>correlation</a:t>
            </a:r>
            <a:r>
              <a:rPr lang="de-DE" dirty="0"/>
              <a:t> &lt;0.8 </a:t>
            </a:r>
            <a:r>
              <a:rPr lang="de-DE" dirty="0" err="1"/>
              <a:t>to</a:t>
            </a:r>
            <a:r>
              <a:rPr lang="de-DE" dirty="0"/>
              <a:t> robust </a:t>
            </a:r>
            <a:r>
              <a:rPr lang="de-DE" dirty="0" err="1"/>
              <a:t>reference</a:t>
            </a:r>
            <a:r>
              <a:rPr lang="de-DE" dirty="0"/>
              <a:t>, Line </a:t>
            </a:r>
            <a:r>
              <a:rPr lang="de-DE" dirty="0" err="1"/>
              <a:t>noise</a:t>
            </a:r>
            <a:r>
              <a:rPr lang="de-DE" dirty="0"/>
              <a:t> (&gt;4 </a:t>
            </a:r>
            <a:r>
              <a:rPr lang="de-DE" dirty="0" err="1"/>
              <a:t>std</a:t>
            </a:r>
            <a:r>
              <a:rPr lang="de-DE" dirty="0"/>
              <a:t>)</a:t>
            </a:r>
          </a:p>
          <a:p>
            <a:r>
              <a:rPr lang="de-DE" dirty="0"/>
              <a:t> </a:t>
            </a:r>
            <a:r>
              <a:rPr lang="de-DE" dirty="0" err="1"/>
              <a:t>Removed</a:t>
            </a:r>
            <a:r>
              <a:rPr lang="de-DE" dirty="0"/>
              <a:t> </a:t>
            </a:r>
            <a:r>
              <a:rPr lang="de-DE" dirty="0" err="1"/>
              <a:t>channels</a:t>
            </a:r>
            <a:r>
              <a:rPr lang="de-DE" dirty="0"/>
              <a:t> per </a:t>
            </a:r>
            <a:r>
              <a:rPr lang="de-DE" dirty="0" err="1"/>
              <a:t>subject</a:t>
            </a:r>
            <a:r>
              <a:rPr lang="de-DE" dirty="0"/>
              <a:t> on </a:t>
            </a:r>
            <a:r>
              <a:rPr lang="de-DE" dirty="0" err="1"/>
              <a:t>average</a:t>
            </a:r>
            <a:r>
              <a:rPr lang="de-DE" dirty="0"/>
              <a:t>: </a:t>
            </a:r>
            <a:r>
              <a:rPr lang="de-DE" b="1" dirty="0"/>
              <a:t>3.03 ± 1.96 </a:t>
            </a:r>
            <a:r>
              <a:rPr lang="de-DE" b="1" dirty="0" err="1"/>
              <a:t>std</a:t>
            </a:r>
            <a:endParaRPr lang="de-DE" b="1" dirty="0"/>
          </a:p>
          <a:p>
            <a:r>
              <a:rPr lang="de-DE" dirty="0"/>
              <a:t> 7 </a:t>
            </a:r>
            <a:r>
              <a:rPr lang="de-DE" dirty="0" err="1"/>
              <a:t>subjects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channels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interest</a:t>
            </a:r>
            <a:r>
              <a:rPr lang="de-DE" dirty="0"/>
              <a:t> (</a:t>
            </a:r>
            <a:r>
              <a:rPr lang="de-DE" dirty="0" err="1"/>
              <a:t>visual</a:t>
            </a:r>
            <a:r>
              <a:rPr lang="de-DE" dirty="0"/>
              <a:t> </a:t>
            </a:r>
            <a:r>
              <a:rPr lang="de-DE" dirty="0" err="1"/>
              <a:t>cortex</a:t>
            </a:r>
            <a:r>
              <a:rPr lang="de-DE" dirty="0"/>
              <a:t> </a:t>
            </a:r>
            <a:r>
              <a:rPr lang="de-DE" dirty="0" err="1"/>
              <a:t>area</a:t>
            </a:r>
            <a:r>
              <a:rPr lang="de-DE" dirty="0"/>
              <a:t>) </a:t>
            </a:r>
            <a:r>
              <a:rPr lang="de-DE" dirty="0" err="1"/>
              <a:t>missing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693A7E8-C652-0BAE-BDBB-338C009404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1C4C0EE-EE48-921F-FF24-22621D2E1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467" y="2878389"/>
            <a:ext cx="4893936" cy="2427154"/>
          </a:xfrm>
          <a:prstGeom prst="rect">
            <a:avLst/>
          </a:prstGeom>
        </p:spPr>
      </p:pic>
      <p:pic>
        <p:nvPicPr>
          <p:cNvPr id="7" name="Grafik 6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432E4F52-C0E8-0DC4-FA64-9C160EB19F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" t="19753" r="-174" b="67887"/>
          <a:stretch>
            <a:fillRect/>
          </a:stretch>
        </p:blipFill>
        <p:spPr>
          <a:xfrm>
            <a:off x="2631303" y="409457"/>
            <a:ext cx="3756265" cy="831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58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7D09D8-BAF9-8E15-A7FA-DCC6F726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Analysis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B7A44D-1D3D-DCA6-4360-82E0FD4E3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 Analyze </a:t>
            </a:r>
            <a:r>
              <a:rPr lang="de-DE" b="1" dirty="0"/>
              <a:t>Event-</a:t>
            </a:r>
            <a:r>
              <a:rPr lang="de-DE" b="1" dirty="0" err="1"/>
              <a:t>related</a:t>
            </a:r>
            <a:r>
              <a:rPr lang="de-DE" b="1" dirty="0"/>
              <a:t> </a:t>
            </a:r>
            <a:r>
              <a:rPr lang="de-DE" b="1" dirty="0" err="1"/>
              <a:t>potentials</a:t>
            </a:r>
            <a:r>
              <a:rPr lang="de-DE" b="1" dirty="0"/>
              <a:t> (ERP)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face</a:t>
            </a:r>
            <a:r>
              <a:rPr lang="de-DE" dirty="0"/>
              <a:t> </a:t>
            </a:r>
            <a:r>
              <a:rPr lang="de-DE" dirty="0" err="1"/>
              <a:t>images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Unfold.jl</a:t>
            </a:r>
            <a:r>
              <a:rPr lang="de-DE" dirty="0"/>
              <a:t> </a:t>
            </a:r>
            <a:r>
              <a:rPr lang="de-DE" dirty="0" err="1"/>
              <a:t>toolbox</a:t>
            </a:r>
            <a:r>
              <a:rPr lang="de-DE" dirty="0"/>
              <a:t> </a:t>
            </a:r>
            <a:r>
              <a:rPr lang="de-DE" dirty="0" err="1"/>
              <a:t>using</a:t>
            </a:r>
            <a:r>
              <a:rPr lang="de-DE" dirty="0"/>
              <a:t> </a:t>
            </a:r>
            <a:r>
              <a:rPr lang="de-DE" dirty="0" err="1"/>
              <a:t>regression</a:t>
            </a:r>
            <a:r>
              <a:rPr lang="de-DE" dirty="0"/>
              <a:t> ERP (</a:t>
            </a:r>
            <a:r>
              <a:rPr lang="de-DE" dirty="0" err="1"/>
              <a:t>rERP</a:t>
            </a:r>
            <a:r>
              <a:rPr lang="de-DE" dirty="0"/>
              <a:t>) </a:t>
            </a:r>
            <a:r>
              <a:rPr lang="de-DE" dirty="0" err="1"/>
              <a:t>framework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2 </a:t>
            </a:r>
            <a:r>
              <a:rPr lang="de-DE" dirty="0" err="1"/>
              <a:t>subjects</a:t>
            </a:r>
            <a:r>
              <a:rPr lang="de-DE" dirty="0"/>
              <a:t> (8, 25)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removed</a:t>
            </a:r>
            <a:r>
              <a:rPr lang="de-DE" dirty="0"/>
              <a:t> </a:t>
            </a:r>
            <a:r>
              <a:rPr lang="de-DE" dirty="0" err="1"/>
              <a:t>because</a:t>
            </a:r>
            <a:r>
              <a:rPr lang="de-DE" dirty="0"/>
              <a:t> </a:t>
            </a:r>
            <a:r>
              <a:rPr lang="de-DE" dirty="0" err="1"/>
              <a:t>their</a:t>
            </a:r>
            <a:r>
              <a:rPr lang="de-DE" dirty="0"/>
              <a:t> ERPs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faulty</a:t>
            </a:r>
            <a:r>
              <a:rPr lang="de-DE" dirty="0"/>
              <a:t> (36 </a:t>
            </a:r>
            <a:r>
              <a:rPr lang="de-DE" dirty="0" err="1"/>
              <a:t>remaining</a:t>
            </a:r>
            <a:r>
              <a:rPr lang="de-DE" dirty="0"/>
              <a:t>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5AC285-BE7B-9A7C-37B9-9E3EA3945F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FC610516-EC59-337B-63DD-3D814C8B2260}"/>
              </a:ext>
            </a:extLst>
          </p:cNvPr>
          <p:cNvGrpSpPr/>
          <p:nvPr/>
        </p:nvGrpSpPr>
        <p:grpSpPr>
          <a:xfrm>
            <a:off x="7554976" y="602444"/>
            <a:ext cx="1024467" cy="1592008"/>
            <a:chOff x="7194087" y="810985"/>
            <a:chExt cx="1024467" cy="1592008"/>
          </a:xfrm>
        </p:grpSpPr>
        <p:pic>
          <p:nvPicPr>
            <p:cNvPr id="7170" name="Picture 2">
              <a:extLst>
                <a:ext uri="{FF2B5EF4-FFF2-40B4-BE49-F238E27FC236}">
                  <a16:creationId xmlns:a16="http://schemas.microsoft.com/office/drawing/2014/main" id="{711E402F-1A40-6BB3-A38B-0E949A2A07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4087" y="810985"/>
              <a:ext cx="1024467" cy="6585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D13637EA-C184-FFE3-60D7-30F64C611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96978" y="1570423"/>
              <a:ext cx="1021576" cy="250371"/>
            </a:xfrm>
            <a:prstGeom prst="rect">
              <a:avLst/>
            </a:prstGeom>
          </p:spPr>
        </p:pic>
        <p:pic>
          <p:nvPicPr>
            <p:cNvPr id="10" name="Picture 2" descr="Unfold 1.2 - EEG Deconvolution Toolbox — Unfold EEG Toolbox">
              <a:extLst>
                <a:ext uri="{FF2B5EF4-FFF2-40B4-BE49-F238E27FC236}">
                  <a16:creationId xmlns:a16="http://schemas.microsoft.com/office/drawing/2014/main" id="{A2BF2D98-64CA-F692-713F-F04767F247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94087" y="1921646"/>
              <a:ext cx="1021576" cy="4813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C2D9333E-4FCA-30E5-CDA4-EC7F07FEE6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759004" y="1713105"/>
            <a:ext cx="2573283" cy="258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19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D12D2-773A-13DC-A5C9-C1ECDA885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14E6D2-2F7F-CD13-2D4B-7D3F54FB2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Mass</a:t>
            </a:r>
            <a:r>
              <a:rPr lang="de-DE" dirty="0"/>
              <a:t> univariate &amp; </a:t>
            </a:r>
            <a:r>
              <a:rPr lang="de-DE" dirty="0" err="1"/>
              <a:t>Deconvolution</a:t>
            </a:r>
            <a:r>
              <a:rPr lang="de-DE" dirty="0"/>
              <a:t> </a:t>
            </a:r>
            <a:r>
              <a:rPr lang="de-DE" dirty="0" err="1"/>
              <a:t>models</a:t>
            </a:r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8806BBB-D059-0312-C833-752AEA2A47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de-DE" b="1" dirty="0"/>
                  <a:t>Inter-stimulus </a:t>
                </a:r>
                <a:r>
                  <a:rPr lang="de-DE" b="1" dirty="0" err="1"/>
                  <a:t>interval</a:t>
                </a:r>
                <a:r>
                  <a:rPr lang="de-DE" b="1" dirty="0"/>
                  <a:t> (ISI) </a:t>
                </a:r>
                <a:r>
                  <a:rPr lang="de-DE" b="1" dirty="0" err="1"/>
                  <a:t>effect</a:t>
                </a:r>
                <a:endParaRPr lang="de-DE" b="1" dirty="0"/>
              </a:p>
              <a:p>
                <a:pPr marL="0" indent="0">
                  <a:buNone/>
                </a:pPr>
                <a:r>
                  <a:rPr lang="de-DE" b="1" dirty="0"/>
                  <a:t> 					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𝐸𝑅𝑃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~ 1+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𝑏𝑙𝑎𝑛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de-DE" b="1" dirty="0"/>
              </a:p>
              <a:p>
                <a:pPr>
                  <a:buFont typeface="Wingdings" pitchFamily="2" charset="2"/>
                  <a:buChar char="à"/>
                </a:pPr>
                <a:r>
                  <a:rPr lang="de-DE" dirty="0">
                    <a:sym typeface="Wingdings" pitchFamily="2" charset="2"/>
                  </a:rPr>
                  <a:t> Cluster-</a:t>
                </a:r>
                <a:r>
                  <a:rPr lang="de-DE" dirty="0" err="1">
                    <a:sym typeface="Wingdings" pitchFamily="2" charset="2"/>
                  </a:rPr>
                  <a:t>depth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permutation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test</a:t>
                </a:r>
                <a:r>
                  <a:rPr lang="de-DE" dirty="0">
                    <a:sym typeface="Wingdings" pitchFamily="2" charset="2"/>
                  </a:rPr>
                  <a:t> (</a:t>
                </a:r>
                <a14:m>
                  <m:oMath xmlns:m="http://schemas.openxmlformats.org/officeDocument/2006/math">
                    <m:r>
                      <a:rPr lang="de-DE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𝛼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=0.05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) on </a:t>
                </a:r>
                <a:r>
                  <a:rPr lang="de-DE" dirty="0" err="1">
                    <a:sym typeface="Wingdings" pitchFamily="2" charset="2"/>
                  </a:rPr>
                  <a:t>occipito</a:t>
                </a:r>
                <a:r>
                  <a:rPr lang="de-DE" dirty="0">
                    <a:sym typeface="Wingdings" pitchFamily="2" charset="2"/>
                  </a:rPr>
                  <a:t>-temporal </a:t>
                </a:r>
                <a:r>
                  <a:rPr lang="de-DE" dirty="0" err="1">
                    <a:sym typeface="Wingdings" pitchFamily="2" charset="2"/>
                  </a:rPr>
                  <a:t>electrodes</a:t>
                </a:r>
                <a:r>
                  <a:rPr lang="de-DE" dirty="0">
                    <a:sym typeface="Wingdings" pitchFamily="2" charset="2"/>
                  </a:rPr>
                  <a:t> (P7, PO7, P8, PO8, O1, O2) </a:t>
                </a:r>
                <a:r>
                  <a:rPr lang="de-DE" dirty="0" err="1">
                    <a:sym typeface="Wingdings" pitchFamily="2" charset="2"/>
                  </a:rPr>
                  <a:t>to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determine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sections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with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significant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difference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between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conditions</a:t>
                </a:r>
                <a:endParaRPr lang="de-DE" dirty="0">
                  <a:sym typeface="Wingdings" pitchFamily="2" charset="2"/>
                </a:endParaRPr>
              </a:p>
              <a:p>
                <a:pPr>
                  <a:buFont typeface="Wingdings" pitchFamily="2" charset="2"/>
                  <a:buChar char="à"/>
                </a:pPr>
                <a:endParaRPr lang="de-DE" sz="1600" dirty="0"/>
              </a:p>
              <a:p>
                <a:pPr marL="0" indent="0">
                  <a:buNone/>
                </a:pPr>
                <a:r>
                  <a:rPr lang="de-DE" b="1" dirty="0"/>
                  <a:t>Stimulus </a:t>
                </a:r>
                <a:r>
                  <a:rPr lang="de-DE" b="1" dirty="0" err="1"/>
                  <a:t>duration</a:t>
                </a:r>
                <a:r>
                  <a:rPr lang="de-DE" b="1" dirty="0"/>
                  <a:t> </a:t>
                </a:r>
                <a:r>
                  <a:rPr lang="de-DE" b="1" dirty="0" err="1"/>
                  <a:t>effect</a:t>
                </a:r>
                <a:endParaRPr lang="de-DE" b="1" dirty="0"/>
              </a:p>
              <a:p>
                <a:pPr marL="0" indent="0">
                  <a:buNone/>
                </a:pPr>
                <a:r>
                  <a:rPr lang="de-DE" dirty="0"/>
                  <a:t>	linear:			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𝐸𝑅𝑃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~ 1+</m:t>
                    </m:r>
                    <m:r>
                      <a:rPr lang="de-DE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𝑑𝑢𝑟𝑎𝑡𝑖𝑜𝑛</m:t>
                    </m:r>
                    <m:r>
                      <a:rPr lang="de-DE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DE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𝑠𝑒𝑞𝑢𝑒𝑛𝑐𝑒</m:t>
                    </m:r>
                  </m:oMath>
                </a14:m>
                <a:endParaRPr lang="de-DE" b="0" dirty="0">
                  <a:solidFill>
                    <a:srgbClr val="0070C0"/>
                  </a:solidFill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de-DE" dirty="0"/>
                  <a:t>	non-linear:			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</a:rPr>
                      <m:t>𝐸𝑅𝑃</m:t>
                    </m:r>
                    <m:r>
                      <a:rPr lang="de-DE" i="1">
                        <a:latin typeface="Cambria Math" panose="02040503050406030204" pitchFamily="18" charset="0"/>
                      </a:rPr>
                      <m:t> ~ 1+</m:t>
                    </m:r>
                    <m:r>
                      <a:rPr lang="de-DE" b="0" i="1" smtClean="0">
                        <a:latin typeface="Cambria Math" panose="02040503050406030204" pitchFamily="18" charset="0"/>
                      </a:rPr>
                      <m:t>𝑠𝑝𝑙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𝑑𝑢𝑟𝑎𝑡𝑖𝑜𝑛</m:t>
                        </m:r>
                        <m:r>
                          <a:rPr lang="de-DE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5</m:t>
                        </m:r>
                      </m:e>
                    </m:d>
                    <m:r>
                      <a:rPr lang="de-DE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de-DE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𝑠𝑝𝑙</m:t>
                    </m:r>
                    <m:d>
                      <m:dPr>
                        <m:ctrlPr>
                          <a:rPr lang="de-DE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𝑠𝑒𝑞𝑢𝑒𝑛𝑐𝑒</m:t>
                        </m:r>
                        <m:r>
                          <a:rPr lang="de-DE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5</m:t>
                        </m:r>
                      </m:e>
                    </m:d>
                  </m:oMath>
                </a14:m>
                <a:endParaRPr lang="de-DE" dirty="0"/>
              </a:p>
              <a:p>
                <a:pPr marL="0" indent="0">
                  <a:buNone/>
                </a:pPr>
                <a:r>
                  <a:rPr lang="de-DE" b="1" dirty="0">
                    <a:sym typeface="Wingdings" pitchFamily="2" charset="2"/>
                  </a:rPr>
                  <a:t> </a:t>
                </a:r>
                <a:r>
                  <a:rPr lang="de-DE" dirty="0" err="1">
                    <a:sym typeface="Wingdings" pitchFamily="2" charset="2"/>
                  </a:rPr>
                  <a:t>Hotelling‘s</a:t>
                </a:r>
                <a:r>
                  <a:rPr lang="de-DE" dirty="0">
                    <a:sym typeface="Wingdings" pitchFamily="2" charset="2"/>
                  </a:rPr>
                  <a:t> T</a:t>
                </a:r>
                <a:r>
                  <a:rPr lang="de-DE" baseline="30000" dirty="0">
                    <a:sym typeface="Wingdings" pitchFamily="2" charset="2"/>
                  </a:rPr>
                  <a:t>2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test</a:t>
                </a:r>
                <a:r>
                  <a:rPr lang="de-DE" dirty="0">
                    <a:sym typeface="Wingdings" pitchFamily="2" charset="2"/>
                  </a:rPr>
                  <a:t> (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𝛼</m:t>
                    </m:r>
                    <m:r>
                      <a:rPr lang="de-DE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=0.05</m:t>
                    </m:r>
                  </m:oMath>
                </a14:m>
                <a:r>
                  <a:rPr lang="de-DE" dirty="0">
                    <a:sym typeface="Wingdings" pitchFamily="2" charset="2"/>
                  </a:rPr>
                  <a:t>) to </a:t>
                </a:r>
                <a:r>
                  <a:rPr lang="de-DE" dirty="0" err="1">
                    <a:sym typeface="Wingdings" pitchFamily="2" charset="2"/>
                  </a:rPr>
                  <a:t>determine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significance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of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duration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effect</a:t>
                </a:r>
                <a:r>
                  <a:rPr lang="de-DE" dirty="0">
                    <a:sym typeface="Wingdings" pitchFamily="2" charset="2"/>
                  </a:rPr>
                  <a:t> (</a:t>
                </a:r>
                <a:r>
                  <a:rPr lang="de-DE" dirty="0" err="1">
                    <a:sym typeface="Wingdings" pitchFamily="2" charset="2"/>
                  </a:rPr>
                  <a:t>compares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model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coefficients</a:t>
                </a:r>
                <a:r>
                  <a:rPr lang="de-DE" dirty="0">
                    <a:sym typeface="Wingdings" pitchFamily="2" charset="2"/>
                  </a:rPr>
                  <a:t> </a:t>
                </a:r>
                <a:r>
                  <a:rPr lang="de-DE" dirty="0" err="1">
                    <a:sym typeface="Wingdings" pitchFamily="2" charset="2"/>
                  </a:rPr>
                  <a:t>with</a:t>
                </a:r>
                <a:r>
                  <a:rPr lang="de-DE" dirty="0">
                    <a:sym typeface="Wingdings" pitchFamily="2" charset="2"/>
                  </a:rPr>
                  <a:t> 0)</a:t>
                </a:r>
                <a:endParaRPr lang="de-DE" b="1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68806BBB-D059-0312-C833-752AEA2A47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48" r="-89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7BD11A7-3413-F547-F6D3-10E599CCB8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DD29FC8-ACBA-6291-9FC6-8EE60BF39D6C}"/>
              </a:ext>
            </a:extLst>
          </p:cNvPr>
          <p:cNvSpPr txBox="1"/>
          <p:nvPr/>
        </p:nvSpPr>
        <p:spPr>
          <a:xfrm>
            <a:off x="5907831" y="3034453"/>
            <a:ext cx="1798490" cy="524503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 err="1">
                <a:solidFill>
                  <a:srgbClr val="0070C0"/>
                </a:solidFill>
              </a:rPr>
              <a:t>For</a:t>
            </a:r>
            <a:r>
              <a:rPr lang="de-DE" dirty="0">
                <a:solidFill>
                  <a:srgbClr val="0070C0"/>
                </a:solidFill>
              </a:rPr>
              <a:t> additional </a:t>
            </a:r>
            <a:r>
              <a:rPr lang="de-DE" dirty="0" err="1">
                <a:solidFill>
                  <a:srgbClr val="0070C0"/>
                </a:solidFill>
              </a:rPr>
              <a:t>analysis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of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habituation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 err="1">
                <a:solidFill>
                  <a:srgbClr val="0070C0"/>
                </a:solidFill>
              </a:rPr>
              <a:t>effect</a:t>
            </a:r>
            <a:endParaRPr lang="de-DE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33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AFBC5-1172-2796-5A1D-B0FD05E8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B2B49E-EBF3-1943-C973-8898301D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Inter-stimulus </a:t>
            </a:r>
            <a:r>
              <a:rPr lang="de-DE" dirty="0" err="1"/>
              <a:t>Interval</a:t>
            </a:r>
            <a:r>
              <a:rPr lang="de-DE" dirty="0"/>
              <a:t> (ISI) </a:t>
            </a:r>
            <a:r>
              <a:rPr lang="de-DE" dirty="0" err="1"/>
              <a:t>effect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82DF933-97F9-BC10-ECBE-1D2383BD61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8217FEB-FBA8-A45B-611B-8827AD4CCFE4}"/>
              </a:ext>
            </a:extLst>
          </p:cNvPr>
          <p:cNvSpPr txBox="1"/>
          <p:nvPr/>
        </p:nvSpPr>
        <p:spPr>
          <a:xfrm>
            <a:off x="606614" y="5011125"/>
            <a:ext cx="42600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Helvetica Light" panose="020B0403020202020204" pitchFamily="34" charset="0"/>
              </a:rPr>
              <a:t>Grand </a:t>
            </a:r>
            <a:r>
              <a:rPr lang="de-DE" sz="1100" dirty="0" err="1">
                <a:latin typeface="Helvetica Light" panose="020B0403020202020204" pitchFamily="34" charset="0"/>
              </a:rPr>
              <a:t>averaged</a:t>
            </a:r>
            <a:r>
              <a:rPr lang="de-DE" sz="1100" dirty="0">
                <a:latin typeface="Helvetica Light" panose="020B0403020202020204" pitchFamily="34" charset="0"/>
              </a:rPr>
              <a:t> ERPs (PO8 </a:t>
            </a:r>
            <a:r>
              <a:rPr lang="de-DE" sz="1100" dirty="0" err="1">
                <a:latin typeface="Helvetica Light" panose="020B0403020202020204" pitchFamily="34" charset="0"/>
              </a:rPr>
              <a:t>channel</a:t>
            </a:r>
            <a:r>
              <a:rPr lang="de-DE" sz="1100" dirty="0">
                <a:latin typeface="Helvetica Light" panose="020B0403020202020204" pitchFamily="34" charset="0"/>
              </a:rPr>
              <a:t>) </a:t>
            </a:r>
            <a:r>
              <a:rPr lang="de-DE" sz="1100" dirty="0" err="1">
                <a:latin typeface="Helvetica Light" panose="020B0403020202020204" pitchFamily="34" charset="0"/>
              </a:rPr>
              <a:t>with</a:t>
            </a:r>
            <a:r>
              <a:rPr lang="de-DE" sz="1100" dirty="0">
                <a:latin typeface="Helvetica Light" panose="020B0403020202020204" pitchFamily="34" charset="0"/>
              </a:rPr>
              <a:t> </a:t>
            </a:r>
            <a:r>
              <a:rPr lang="de-DE" sz="1100" dirty="0" err="1">
                <a:latin typeface="Helvetica Light" panose="020B0403020202020204" pitchFamily="34" charset="0"/>
              </a:rPr>
              <a:t>baseline</a:t>
            </a:r>
            <a:r>
              <a:rPr lang="de-DE" sz="1100" dirty="0">
                <a:latin typeface="Helvetica Light" panose="020B0403020202020204" pitchFamily="34" charset="0"/>
              </a:rPr>
              <a:t> </a:t>
            </a:r>
            <a:r>
              <a:rPr lang="de-DE" sz="1100" dirty="0" err="1">
                <a:latin typeface="Helvetica Light" panose="020B0403020202020204" pitchFamily="34" charset="0"/>
              </a:rPr>
              <a:t>correction</a:t>
            </a:r>
            <a:endParaRPr lang="de-DE" sz="1100" dirty="0">
              <a:latin typeface="Helvetica Light" panose="020B0403020202020204" pitchFamily="34" charset="0"/>
            </a:endParaRPr>
          </a:p>
        </p:txBody>
      </p:sp>
      <p:pic>
        <p:nvPicPr>
          <p:cNvPr id="5" name="Grafik 4" descr="Ein Bild, das Screenshot, Diagramm, Farbigkeit, Reihe enthält.&#10;&#10;KI-generierte Inhalte können fehlerhaft sein.">
            <a:extLst>
              <a:ext uri="{FF2B5EF4-FFF2-40B4-BE49-F238E27FC236}">
                <a16:creationId xmlns:a16="http://schemas.microsoft.com/office/drawing/2014/main" id="{F98CDB83-AEE2-DAAE-AE5E-C9F35626F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14" y="538722"/>
            <a:ext cx="7930772" cy="440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767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359FE-A84D-92DD-A024-6DB9DD4E2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E8102-4979-53BB-7DE1-6398E119B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Stimulus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effect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EC7F36B-D89A-B90F-A18A-F99301735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D336921-E360-43C3-4544-6D6A8B3EEFB2}"/>
              </a:ext>
            </a:extLst>
          </p:cNvPr>
          <p:cNvSpPr txBox="1"/>
          <p:nvPr/>
        </p:nvSpPr>
        <p:spPr>
          <a:xfrm>
            <a:off x="606614" y="5011125"/>
            <a:ext cx="38675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Helvetica Light" panose="020B0403020202020204" pitchFamily="34" charset="0"/>
              </a:rPr>
              <a:t>Grand </a:t>
            </a:r>
            <a:r>
              <a:rPr lang="de-DE" sz="1100" dirty="0" err="1">
                <a:latin typeface="Helvetica Light" panose="020B0403020202020204" pitchFamily="34" charset="0"/>
              </a:rPr>
              <a:t>averaged</a:t>
            </a:r>
            <a:r>
              <a:rPr lang="de-DE" sz="1100" dirty="0">
                <a:latin typeface="Helvetica Light" panose="020B0403020202020204" pitchFamily="34" charset="0"/>
              </a:rPr>
              <a:t> ERPs (PO8 </a:t>
            </a:r>
            <a:r>
              <a:rPr lang="de-DE" sz="1100" dirty="0" err="1">
                <a:latin typeface="Helvetica Light" panose="020B0403020202020204" pitchFamily="34" charset="0"/>
              </a:rPr>
              <a:t>channel</a:t>
            </a:r>
            <a:r>
              <a:rPr lang="de-DE" sz="1100" dirty="0">
                <a:latin typeface="Helvetica Light" panose="020B0403020202020204" pitchFamily="34" charset="0"/>
              </a:rPr>
              <a:t>)</a:t>
            </a:r>
          </a:p>
        </p:txBody>
      </p:sp>
      <p:pic>
        <p:nvPicPr>
          <p:cNvPr id="6" name="Grafik 5" descr="Ein Bild, das Diagramm, Reihe enthält.&#10;&#10;KI-generierte Inhalte können fehlerhaft sein.">
            <a:extLst>
              <a:ext uri="{FF2B5EF4-FFF2-40B4-BE49-F238E27FC236}">
                <a16:creationId xmlns:a16="http://schemas.microsoft.com/office/drawing/2014/main" id="{AB01C17C-13D0-72D7-9B11-22F2CEC57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14" y="555130"/>
            <a:ext cx="7735148" cy="449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77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180D-99E9-8A04-D5C7-0C87EB3A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49F675-320B-A09C-6BA6-94B1601D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Stimulus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effect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B00C7C-A3A9-ACCC-F344-EAA95BB962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481ED26-5DE1-7976-264B-13713571CE32}"/>
              </a:ext>
            </a:extLst>
          </p:cNvPr>
          <p:cNvSpPr txBox="1"/>
          <p:nvPr/>
        </p:nvSpPr>
        <p:spPr>
          <a:xfrm>
            <a:off x="606614" y="5011125"/>
            <a:ext cx="38675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Helvetica Light" panose="020B0403020202020204" pitchFamily="34" charset="0"/>
              </a:rPr>
              <a:t>Grand </a:t>
            </a:r>
            <a:r>
              <a:rPr lang="de-DE" sz="1100" dirty="0" err="1">
                <a:latin typeface="Helvetica Light" panose="020B0403020202020204" pitchFamily="34" charset="0"/>
              </a:rPr>
              <a:t>averaged</a:t>
            </a:r>
            <a:r>
              <a:rPr lang="de-DE" sz="1100" dirty="0">
                <a:latin typeface="Helvetica Light" panose="020B0403020202020204" pitchFamily="34" charset="0"/>
              </a:rPr>
              <a:t> ERPs (PO8 </a:t>
            </a:r>
            <a:r>
              <a:rPr lang="de-DE" sz="1100" dirty="0" err="1">
                <a:latin typeface="Helvetica Light" panose="020B0403020202020204" pitchFamily="34" charset="0"/>
              </a:rPr>
              <a:t>channel</a:t>
            </a:r>
            <a:r>
              <a:rPr lang="de-DE" sz="1100" dirty="0">
                <a:latin typeface="Helvetica Light" panose="020B0403020202020204" pitchFamily="34" charset="0"/>
              </a:rPr>
              <a:t>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F91C4A4-820C-B2DA-FD0A-A57382211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742" y="555130"/>
            <a:ext cx="7726891" cy="449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662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02417DF-E8A2-0AA2-3FCE-1B9BD0DA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23DDB-2CD9-ACC1-28E6-F2C6572F5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Stimulus </a:t>
            </a:r>
            <a:r>
              <a:rPr lang="de-DE" dirty="0" err="1"/>
              <a:t>duration</a:t>
            </a:r>
            <a:r>
              <a:rPr lang="de-DE" dirty="0"/>
              <a:t> </a:t>
            </a:r>
            <a:r>
              <a:rPr lang="de-DE" dirty="0" err="1"/>
              <a:t>effect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0EA9983-152E-97A3-56BC-9882437586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DB78CBF-A8B5-4D04-666C-0A4D2EBE4D43}"/>
              </a:ext>
            </a:extLst>
          </p:cNvPr>
          <p:cNvSpPr txBox="1"/>
          <p:nvPr/>
        </p:nvSpPr>
        <p:spPr>
          <a:xfrm>
            <a:off x="179711" y="4706895"/>
            <a:ext cx="28833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 err="1">
                <a:latin typeface="Helvetica Light" panose="020B0403020202020204" pitchFamily="34" charset="0"/>
              </a:rPr>
              <a:t>From</a:t>
            </a:r>
            <a:r>
              <a:rPr lang="de-DE" sz="1100" dirty="0">
                <a:latin typeface="Helvetica Light" panose="020B0403020202020204" pitchFamily="34" charset="0"/>
              </a:rPr>
              <a:t> </a:t>
            </a:r>
            <a:r>
              <a:rPr lang="de-DE" sz="1100" dirty="0" err="1">
                <a:latin typeface="Helvetica Light" panose="020B0403020202020204" pitchFamily="34" charset="0"/>
              </a:rPr>
              <a:t>grand</a:t>
            </a:r>
            <a:r>
              <a:rPr lang="de-DE" sz="1100" dirty="0">
                <a:latin typeface="Helvetica Light" panose="020B0403020202020204" pitchFamily="34" charset="0"/>
              </a:rPr>
              <a:t> </a:t>
            </a:r>
            <a:r>
              <a:rPr lang="de-DE" sz="1100" dirty="0" err="1">
                <a:latin typeface="Helvetica Light" panose="020B0403020202020204" pitchFamily="34" charset="0"/>
              </a:rPr>
              <a:t>averaged</a:t>
            </a:r>
            <a:r>
              <a:rPr lang="de-DE" sz="1100" dirty="0">
                <a:latin typeface="Helvetica Light" panose="020B0403020202020204" pitchFamily="34" charset="0"/>
              </a:rPr>
              <a:t> ERPs (PO8 </a:t>
            </a:r>
            <a:r>
              <a:rPr lang="de-DE" sz="1100" dirty="0" err="1">
                <a:latin typeface="Helvetica Light" panose="020B0403020202020204" pitchFamily="34" charset="0"/>
              </a:rPr>
              <a:t>channel</a:t>
            </a:r>
            <a:r>
              <a:rPr lang="de-DE" sz="1100" dirty="0">
                <a:latin typeface="Helvetica Light" panose="020B0403020202020204" pitchFamily="34" charset="0"/>
              </a:rPr>
              <a:t>)</a:t>
            </a:r>
          </a:p>
        </p:txBody>
      </p:sp>
      <p:pic>
        <p:nvPicPr>
          <p:cNvPr id="9" name="Grafik 8" descr="Ein Bild, das Diagramm, Reihe, Text enthält.&#10;&#10;KI-generierte Inhalte können fehlerhaft sein.">
            <a:extLst>
              <a:ext uri="{FF2B5EF4-FFF2-40B4-BE49-F238E27FC236}">
                <a16:creationId xmlns:a16="http://schemas.microsoft.com/office/drawing/2014/main" id="{E7D1F7F7-10B4-45A3-F64D-D6798B08E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75" y="1009381"/>
            <a:ext cx="8900450" cy="3553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17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07CF-9E59-AC77-9F2E-209A7DCCD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62101-4006-C163-EB7C-8B5AB35C1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Hotelling‘s</a:t>
            </a:r>
            <a:r>
              <a:rPr lang="de-DE" dirty="0"/>
              <a:t> t</a:t>
            </a:r>
            <a:r>
              <a:rPr lang="de-DE" baseline="30000" dirty="0"/>
              <a:t>2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CD9DAA-242A-7725-0EA7-A24126F044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93DB253-3376-BD24-A95C-7995A37FC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32587" y="477911"/>
            <a:ext cx="5478826" cy="475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28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D25EF-214D-733A-063A-1967FB4B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A68BB4-EBD5-DD57-201A-E8999E058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Habituation </a:t>
            </a:r>
            <a:r>
              <a:rPr lang="de-DE" dirty="0" err="1"/>
              <a:t>effect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F44EA4-AAB7-DFFB-092D-3799469577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67A9501-938D-233A-8326-1309907E1E57}"/>
              </a:ext>
            </a:extLst>
          </p:cNvPr>
          <p:cNvSpPr txBox="1"/>
          <p:nvPr/>
        </p:nvSpPr>
        <p:spPr>
          <a:xfrm>
            <a:off x="606614" y="5011125"/>
            <a:ext cx="38675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Helvetica Light" panose="020B0403020202020204" pitchFamily="34" charset="0"/>
              </a:rPr>
              <a:t>Grand </a:t>
            </a:r>
            <a:r>
              <a:rPr lang="de-DE" sz="1100" dirty="0" err="1">
                <a:latin typeface="Helvetica Light" panose="020B0403020202020204" pitchFamily="34" charset="0"/>
              </a:rPr>
              <a:t>averaged</a:t>
            </a:r>
            <a:r>
              <a:rPr lang="de-DE" sz="1100" dirty="0">
                <a:latin typeface="Helvetica Light" panose="020B0403020202020204" pitchFamily="34" charset="0"/>
              </a:rPr>
              <a:t> ERPs (PO8 </a:t>
            </a:r>
            <a:r>
              <a:rPr lang="de-DE" sz="1100" dirty="0" err="1">
                <a:latin typeface="Helvetica Light" panose="020B0403020202020204" pitchFamily="34" charset="0"/>
              </a:rPr>
              <a:t>channel</a:t>
            </a:r>
            <a:r>
              <a:rPr lang="de-DE" sz="1100" dirty="0">
                <a:latin typeface="Helvetica Light" panose="020B0403020202020204" pitchFamily="34" charset="0"/>
              </a:rPr>
              <a:t>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24DD9C0-BCB0-2DB8-2805-64A2B5B1DD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742" y="559927"/>
            <a:ext cx="7726891" cy="448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56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9440C-A7E9-A63B-82F7-32CD5F033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D372C-1935-7267-5CE7-9E06B1966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Habituation </a:t>
            </a:r>
            <a:r>
              <a:rPr lang="de-DE" dirty="0" err="1"/>
              <a:t>effect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707030-C5BF-E15E-D217-D132420CC9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949E80C-5A44-413D-00AC-3FA38A369FDA}"/>
              </a:ext>
            </a:extLst>
          </p:cNvPr>
          <p:cNvSpPr txBox="1"/>
          <p:nvPr/>
        </p:nvSpPr>
        <p:spPr>
          <a:xfrm>
            <a:off x="606614" y="5011125"/>
            <a:ext cx="38675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latin typeface="Helvetica Light" panose="020B0403020202020204" pitchFamily="34" charset="0"/>
              </a:rPr>
              <a:t>Grand </a:t>
            </a:r>
            <a:r>
              <a:rPr lang="de-DE" sz="1100" dirty="0" err="1">
                <a:latin typeface="Helvetica Light" panose="020B0403020202020204" pitchFamily="34" charset="0"/>
              </a:rPr>
              <a:t>averaged</a:t>
            </a:r>
            <a:r>
              <a:rPr lang="de-DE" sz="1100" dirty="0">
                <a:latin typeface="Helvetica Light" panose="020B0403020202020204" pitchFamily="34" charset="0"/>
              </a:rPr>
              <a:t> ERPs (PO8 </a:t>
            </a:r>
            <a:r>
              <a:rPr lang="de-DE" sz="1100" dirty="0" err="1">
                <a:latin typeface="Helvetica Light" panose="020B0403020202020204" pitchFamily="34" charset="0"/>
              </a:rPr>
              <a:t>channel</a:t>
            </a:r>
            <a:r>
              <a:rPr lang="de-DE" sz="1100" dirty="0">
                <a:latin typeface="Helvetica Light" panose="020B0403020202020204" pitchFamily="34" charset="0"/>
              </a:rPr>
              <a:t>)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C26BFF1-D4F5-140C-EB74-A558394A8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0742" y="562317"/>
            <a:ext cx="7726891" cy="44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29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DB87E7-055A-7D4F-8C34-B870A2295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353C80-B046-D033-9DF5-66BCAB1DA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endParaRPr lang="de-DE" dirty="0">
              <a:sym typeface="Wingdings" pitchFamily="2" charset="2"/>
            </a:endParaRPr>
          </a:p>
          <a:p>
            <a:r>
              <a:rPr lang="de-DE" dirty="0">
                <a:sym typeface="Wingdings" pitchFamily="2" charset="2"/>
              </a:rPr>
              <a:t> </a:t>
            </a:r>
            <a:r>
              <a:rPr lang="de-DE" b="1" dirty="0">
                <a:sym typeface="Wingdings" pitchFamily="2" charset="2"/>
              </a:rPr>
              <a:t>ISIs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have</a:t>
            </a:r>
            <a:r>
              <a:rPr lang="de-DE" dirty="0">
                <a:sym typeface="Wingdings" pitchFamily="2" charset="2"/>
              </a:rPr>
              <a:t> a </a:t>
            </a:r>
            <a:r>
              <a:rPr lang="de-DE" dirty="0" err="1">
                <a:sym typeface="Wingdings" pitchFamily="2" charset="2"/>
              </a:rPr>
              <a:t>significant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impact</a:t>
            </a:r>
            <a:r>
              <a:rPr lang="de-DE" dirty="0">
                <a:sym typeface="Wingdings" pitchFamily="2" charset="2"/>
              </a:rPr>
              <a:t> on </a:t>
            </a:r>
            <a:r>
              <a:rPr lang="de-DE" dirty="0" err="1">
                <a:sym typeface="Wingdings" pitchFamily="2" charset="2"/>
              </a:rPr>
              <a:t>amplitude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ERP </a:t>
            </a:r>
            <a:r>
              <a:rPr lang="de-DE" dirty="0" err="1">
                <a:sym typeface="Wingdings" pitchFamily="2" charset="2"/>
              </a:rPr>
              <a:t>components</a:t>
            </a:r>
            <a:endParaRPr lang="de-DE" dirty="0">
              <a:sym typeface="Wingdings" pitchFamily="2" charset="2"/>
            </a:endParaRPr>
          </a:p>
          <a:p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No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significant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effect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b="1" dirty="0" err="1">
                <a:sym typeface="Wingdings" pitchFamily="2" charset="2"/>
              </a:rPr>
              <a:t>stimulus</a:t>
            </a:r>
            <a:r>
              <a:rPr lang="de-DE" b="1" dirty="0">
                <a:sym typeface="Wingdings" pitchFamily="2" charset="2"/>
              </a:rPr>
              <a:t> </a:t>
            </a:r>
            <a:r>
              <a:rPr lang="de-DE" b="1" dirty="0" err="1">
                <a:sym typeface="Wingdings" pitchFamily="2" charset="2"/>
              </a:rPr>
              <a:t>duration</a:t>
            </a:r>
            <a:r>
              <a:rPr lang="de-DE" b="1" dirty="0">
                <a:sym typeface="Wingdings" pitchFamily="2" charset="2"/>
              </a:rPr>
              <a:t> </a:t>
            </a:r>
            <a:r>
              <a:rPr lang="de-DE" dirty="0">
                <a:sym typeface="Wingdings" pitchFamily="2" charset="2"/>
              </a:rPr>
              <a:t>on ERP </a:t>
            </a:r>
            <a:r>
              <a:rPr lang="de-DE" dirty="0" err="1">
                <a:sym typeface="Wingdings" pitchFamily="2" charset="2"/>
              </a:rPr>
              <a:t>component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peaks</a:t>
            </a:r>
            <a:r>
              <a:rPr lang="de-DE" dirty="0">
                <a:sym typeface="Wingdings" pitchFamily="2" charset="2"/>
              </a:rPr>
              <a:t>, but in </a:t>
            </a:r>
            <a:r>
              <a:rPr lang="de-DE" dirty="0" err="1">
                <a:sym typeface="Wingdings" pitchFamily="2" charset="2"/>
              </a:rPr>
              <a:t>late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stage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P300 </a:t>
            </a:r>
            <a:r>
              <a:rPr lang="de-DE" dirty="0" err="1">
                <a:sym typeface="Wingdings" pitchFamily="2" charset="2"/>
              </a:rPr>
              <a:t>component</a:t>
            </a:r>
            <a:endParaRPr lang="de-DE" dirty="0">
              <a:sym typeface="Wingdings" pitchFamily="2" charset="2"/>
            </a:endParaRPr>
          </a:p>
          <a:p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Applicability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deconvolution-based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overlap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correction</a:t>
            </a:r>
            <a:r>
              <a:rPr lang="de-DE" dirty="0">
                <a:sym typeface="Wingdings" pitchFamily="2" charset="2"/>
              </a:rPr>
              <a:t> in </a:t>
            </a:r>
            <a:r>
              <a:rPr lang="de-DE" dirty="0" err="1">
                <a:sym typeface="Wingdings" pitchFamily="2" charset="2"/>
              </a:rPr>
              <a:t>compination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with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duration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modelling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seems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methodologically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sound</a:t>
            </a:r>
            <a:endParaRPr lang="de-DE" dirty="0">
              <a:sym typeface="Wingdings" pitchFamily="2" charset="2"/>
            </a:endParaRPr>
          </a:p>
          <a:p>
            <a:endParaRPr lang="de-DE" dirty="0">
              <a:sym typeface="Wingdings" pitchFamily="2" charset="2"/>
            </a:endParaRPr>
          </a:p>
          <a:p>
            <a:endParaRPr lang="de-DE" dirty="0">
              <a:sym typeface="Wingdings" pitchFamily="2" charset="2"/>
            </a:endParaRP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AF6EEE0-C287-349E-DD8A-D038E4212F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187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973E9-F4E3-74F6-1FC5-DC1E2516A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21597C-1665-C383-6700-077974A8F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Limitations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4C9AC4-136E-6B12-9A04-550BBECF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  <a:p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Why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</a:t>
            </a:r>
            <a:r>
              <a:rPr lang="de-DE" dirty="0" err="1"/>
              <a:t>two</a:t>
            </a:r>
            <a:r>
              <a:rPr lang="de-DE" dirty="0"/>
              <a:t> </a:t>
            </a:r>
            <a:r>
              <a:rPr lang="de-DE" dirty="0" err="1"/>
              <a:t>subjects</a:t>
            </a:r>
            <a:r>
              <a:rPr lang="de-DE" dirty="0"/>
              <a:t> (8, 25)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faulty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?</a:t>
            </a:r>
          </a:p>
          <a:p>
            <a:r>
              <a:rPr lang="de-DE" dirty="0"/>
              <a:t> Lack </a:t>
            </a:r>
            <a:r>
              <a:rPr lang="de-DE" dirty="0" err="1"/>
              <a:t>of</a:t>
            </a:r>
            <a:r>
              <a:rPr lang="de-DE" dirty="0"/>
              <a:t> multiple </a:t>
            </a:r>
            <a:r>
              <a:rPr lang="de-DE" dirty="0" err="1"/>
              <a:t>comparison</a:t>
            </a:r>
            <a:r>
              <a:rPr lang="de-DE" dirty="0"/>
              <a:t> </a:t>
            </a:r>
            <a:r>
              <a:rPr lang="de-DE" dirty="0" err="1"/>
              <a:t>correction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Hotelling‘s</a:t>
            </a:r>
            <a:r>
              <a:rPr lang="de-DE" dirty="0"/>
              <a:t> T</a:t>
            </a:r>
            <a:r>
              <a:rPr lang="de-DE" baseline="30000" dirty="0"/>
              <a:t>2</a:t>
            </a:r>
            <a:r>
              <a:rPr lang="de-DE" dirty="0"/>
              <a:t> </a:t>
            </a:r>
            <a:r>
              <a:rPr lang="de-DE" dirty="0" err="1"/>
              <a:t>test</a:t>
            </a:r>
            <a:r>
              <a:rPr lang="de-DE" dirty="0"/>
              <a:t> </a:t>
            </a:r>
            <a:r>
              <a:rPr lang="de-DE" dirty="0" err="1"/>
              <a:t>results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Applicability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baseline</a:t>
            </a:r>
            <a:r>
              <a:rPr lang="de-DE" dirty="0"/>
              <a:t> </a:t>
            </a:r>
            <a:r>
              <a:rPr lang="de-DE" dirty="0" err="1"/>
              <a:t>correction</a:t>
            </a:r>
            <a:r>
              <a:rPr lang="de-DE" dirty="0"/>
              <a:t> in RSVP </a:t>
            </a:r>
            <a:r>
              <a:rPr lang="de-DE" dirty="0" err="1"/>
              <a:t>paradigm</a:t>
            </a:r>
            <a:endParaRPr lang="de-DE" dirty="0"/>
          </a:p>
          <a:p>
            <a:r>
              <a:rPr lang="de-DE" dirty="0"/>
              <a:t> </a:t>
            </a:r>
            <a:r>
              <a:rPr lang="de-DE" dirty="0" err="1"/>
              <a:t>Usage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log-uniform </a:t>
            </a:r>
            <a:r>
              <a:rPr lang="de-DE" dirty="0" err="1"/>
              <a:t>distribution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stimulus</a:t>
            </a:r>
            <a:r>
              <a:rPr lang="de-DE" dirty="0"/>
              <a:t> </a:t>
            </a:r>
            <a:r>
              <a:rPr lang="de-DE" dirty="0" err="1"/>
              <a:t>duration</a:t>
            </a:r>
            <a:r>
              <a:rPr lang="de-DE" dirty="0"/>
              <a:t> and ISIs</a:t>
            </a:r>
          </a:p>
          <a:p>
            <a:pPr lvl="1">
              <a:buFont typeface="Wingdings" pitchFamily="2" charset="2"/>
              <a:buChar char="à"/>
            </a:pP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Fewer</a:t>
            </a: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trials</a:t>
            </a: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with</a:t>
            </a: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long</a:t>
            </a: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durations</a:t>
            </a:r>
            <a:r>
              <a:rPr lang="de-DE" sz="1800" dirty="0">
                <a:sym typeface="Wingdings" pitchFamily="2" charset="2"/>
              </a:rPr>
              <a:t> (</a:t>
            </a:r>
            <a:r>
              <a:rPr lang="de-DE" sz="1800" dirty="0" err="1">
                <a:sym typeface="Wingdings" pitchFamily="2" charset="2"/>
              </a:rPr>
              <a:t>could</a:t>
            </a: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affect</a:t>
            </a: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model</a:t>
            </a:r>
            <a:r>
              <a:rPr lang="de-DE" sz="1800" dirty="0">
                <a:sym typeface="Wingdings" pitchFamily="2" charset="2"/>
              </a:rPr>
              <a:t> </a:t>
            </a:r>
            <a:r>
              <a:rPr lang="de-DE" sz="1800" dirty="0" err="1">
                <a:sym typeface="Wingdings" pitchFamily="2" charset="2"/>
              </a:rPr>
              <a:t>reliability</a:t>
            </a:r>
            <a:r>
              <a:rPr lang="de-DE" sz="1800" dirty="0">
                <a:sym typeface="Wingdings" pitchFamily="2" charset="2"/>
              </a:rPr>
              <a:t>)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6DE833C-5FD5-4CBA-1637-4E7B6119D5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9560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61F92-C82F-6F3E-FAC0-4AEBA80DC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B4DDFB-955F-D7A2-FAF3-CAD9D9E18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Future </a:t>
            </a:r>
            <a:r>
              <a:rPr lang="de-DE" dirty="0" err="1"/>
              <a:t>scope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EFDD9F-F439-E4A3-F59F-B877BC7CD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 Further </a:t>
            </a:r>
            <a:r>
              <a:rPr lang="de-DE" dirty="0" err="1"/>
              <a:t>research</a:t>
            </a:r>
            <a:r>
              <a:rPr lang="de-DE" dirty="0"/>
              <a:t> on </a:t>
            </a:r>
            <a:r>
              <a:rPr lang="de-DE" b="1" dirty="0" err="1"/>
              <a:t>duration</a:t>
            </a:r>
            <a:r>
              <a:rPr lang="de-DE" b="1" dirty="0"/>
              <a:t> </a:t>
            </a:r>
            <a:r>
              <a:rPr lang="de-DE" b="1" dirty="0" err="1"/>
              <a:t>effect</a:t>
            </a:r>
            <a:r>
              <a:rPr lang="de-DE" b="1" dirty="0"/>
              <a:t> </a:t>
            </a:r>
            <a:r>
              <a:rPr lang="de-DE" dirty="0" err="1"/>
              <a:t>needed</a:t>
            </a:r>
            <a:r>
              <a:rPr lang="de-DE" dirty="0"/>
              <a:t>,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adapatations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 design</a:t>
            </a: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	 uniform </a:t>
            </a:r>
            <a:r>
              <a:rPr lang="de-DE" dirty="0" err="1">
                <a:sym typeface="Wingdings" pitchFamily="2" charset="2"/>
              </a:rPr>
              <a:t>distribution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stimulus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duration</a:t>
            </a:r>
            <a:endParaRPr lang="de-DE" dirty="0">
              <a:sym typeface="Wingdings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itchFamily="2" charset="2"/>
              </a:rPr>
              <a:t>	 </a:t>
            </a:r>
            <a:r>
              <a:rPr lang="de-DE" dirty="0" err="1">
                <a:sym typeface="Wingdings" pitchFamily="2" charset="2"/>
              </a:rPr>
              <a:t>increased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task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relevance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of</a:t>
            </a:r>
            <a:r>
              <a:rPr lang="de-DE" dirty="0">
                <a:sym typeface="Wingdings" pitchFamily="2" charset="2"/>
              </a:rPr>
              <a:t> </a:t>
            </a:r>
            <a:r>
              <a:rPr lang="de-DE" dirty="0" err="1">
                <a:sym typeface="Wingdings" pitchFamily="2" charset="2"/>
              </a:rPr>
              <a:t>stimulus</a:t>
            </a:r>
            <a:endParaRPr lang="de-DE" dirty="0"/>
          </a:p>
          <a:p>
            <a:r>
              <a:rPr lang="de-DE" dirty="0"/>
              <a:t> Research on </a:t>
            </a:r>
            <a:r>
              <a:rPr lang="de-DE" b="1" dirty="0"/>
              <a:t>ISI </a:t>
            </a:r>
            <a:r>
              <a:rPr lang="de-DE" b="1" dirty="0" err="1"/>
              <a:t>effect</a:t>
            </a:r>
            <a:r>
              <a:rPr lang="de-DE" b="1" dirty="0"/>
              <a:t> </a:t>
            </a:r>
            <a:r>
              <a:rPr lang="de-DE" dirty="0"/>
              <a:t>(</a:t>
            </a:r>
            <a:r>
              <a:rPr lang="de-DE" dirty="0" err="1"/>
              <a:t>possibly</a:t>
            </a:r>
            <a:r>
              <a:rPr lang="de-DE" dirty="0"/>
              <a:t> also </a:t>
            </a:r>
            <a:r>
              <a:rPr lang="de-DE" dirty="0" err="1"/>
              <a:t>with</a:t>
            </a:r>
            <a:r>
              <a:rPr lang="de-DE" dirty="0"/>
              <a:t> </a:t>
            </a:r>
            <a:r>
              <a:rPr lang="de-DE" dirty="0" err="1"/>
              <a:t>focus</a:t>
            </a:r>
            <a:r>
              <a:rPr lang="de-DE" dirty="0"/>
              <a:t> on </a:t>
            </a:r>
            <a:r>
              <a:rPr lang="de-DE" dirty="0" err="1"/>
              <a:t>duration</a:t>
            </a:r>
            <a:r>
              <a:rPr lang="de-DE" dirty="0"/>
              <a:t>)</a:t>
            </a:r>
          </a:p>
          <a:p>
            <a:r>
              <a:rPr lang="de-DE" dirty="0"/>
              <a:t> </a:t>
            </a:r>
            <a:r>
              <a:rPr lang="de-DE" b="1" dirty="0"/>
              <a:t>Habituation </a:t>
            </a:r>
            <a:r>
              <a:rPr lang="de-DE" b="1" dirty="0" err="1"/>
              <a:t>effect</a:t>
            </a:r>
            <a:r>
              <a:rPr lang="de-DE" dirty="0"/>
              <a:t> </a:t>
            </a:r>
            <a:r>
              <a:rPr lang="de-DE" dirty="0" err="1"/>
              <a:t>could</a:t>
            </a:r>
            <a:r>
              <a:rPr lang="de-DE" dirty="0"/>
              <a:t> also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interest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further</a:t>
            </a:r>
            <a:r>
              <a:rPr lang="de-DE" dirty="0"/>
              <a:t> </a:t>
            </a:r>
            <a:r>
              <a:rPr lang="de-DE" dirty="0" err="1"/>
              <a:t>research</a:t>
            </a:r>
            <a:endParaRPr lang="de-DE" b="1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CA156F-C1CD-9742-4962-BB9C9FAFCC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5940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Titl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AC2C9B23-6E39-4556-B487-DCAB5CC8CB79}" vid="{6466EF67-84EE-47EA-97A5-E7BEC6074B1A}"/>
    </a:ext>
  </a:extLst>
</a:theme>
</file>

<file path=ppt/theme/theme2.xml><?xml version="1.0" encoding="utf-8"?>
<a:theme xmlns:a="http://schemas.openxmlformats.org/drawingml/2006/main" name="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C2C9B23-6E39-4556-B487-DCAB5CC8CB79}" vid="{0F395F61-3272-4000-A9CD-70E3D59EDB7B}"/>
    </a:ext>
  </a:extLst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C2C9B23-6E39-4556-B487-DCAB5CC8CB79}" vid="{A59BB390-2915-4AD5-A0F2-288C98C59C4A}"/>
    </a:ext>
  </a:extLst>
</a:theme>
</file>

<file path=ppt/theme/theme4.xml><?xml version="1.0" encoding="utf-8"?>
<a:theme xmlns:a="http://schemas.openxmlformats.org/drawingml/2006/main" name="1_Titl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AC2C9B23-6E39-4556-B487-DCAB5CC8CB79}" vid="{527C9646-2207-4B14-8FB6-9DDBA1FBAC0F}"/>
    </a:ext>
  </a:extLst>
</a:theme>
</file>

<file path=ppt/theme/theme5.xml><?xml version="1.0" encoding="utf-8"?>
<a:theme xmlns:a="http://schemas.openxmlformats.org/drawingml/2006/main" name="1_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C2C9B23-6E39-4556-B487-DCAB5CC8CB79}" vid="{75CE0791-CAE6-4255-BB0C-20DBA5A58A84}"/>
    </a:ext>
  </a:extLst>
</a:theme>
</file>

<file path=ppt/theme/theme6.xml><?xml version="1.0" encoding="utf-8"?>
<a:theme xmlns:a="http://schemas.openxmlformats.org/drawingml/2006/main" name="2_Titl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AC2C9B23-6E39-4556-B487-DCAB5CC8CB79}" vid="{5F462FF2-7BEA-4A76-A7A5-8493878C3B45}"/>
    </a:ext>
  </a:extLst>
</a:theme>
</file>

<file path=ppt/theme/theme7.xml><?xml version="1.0" encoding="utf-8"?>
<a:theme xmlns:a="http://schemas.openxmlformats.org/drawingml/2006/main" name="2_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C2C9B23-6E39-4556-B487-DCAB5CC8CB79}" vid="{221C115A-095A-4385-B1B4-1C537FA8B2F0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Title</Template>
  <TotalTime>0</TotalTime>
  <Words>1043</Words>
  <Application>Microsoft Macintosh PowerPoint</Application>
  <PresentationFormat>Bildschirmpräsentation (16:10)</PresentationFormat>
  <Paragraphs>149</Paragraphs>
  <Slides>22</Slides>
  <Notes>9</Notes>
  <HiddenSlides>4</HiddenSlides>
  <MMClips>0</MMClips>
  <ScaleCrop>false</ScaleCrop>
  <HeadingPairs>
    <vt:vector size="6" baseType="variant">
      <vt:variant>
        <vt:lpstr>Verwendete Schriftarten</vt:lpstr>
      </vt:variant>
      <vt:variant>
        <vt:i4>14</vt:i4>
      </vt:variant>
      <vt:variant>
        <vt:lpstr>Design</vt:lpstr>
      </vt:variant>
      <vt:variant>
        <vt:i4>7</vt:i4>
      </vt:variant>
      <vt:variant>
        <vt:lpstr>Folientitel</vt:lpstr>
      </vt:variant>
      <vt:variant>
        <vt:i4>22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Franklin Gothic Book</vt:lpstr>
      <vt:lpstr>Helvetica</vt:lpstr>
      <vt:lpstr>Helvetica Light</vt:lpstr>
      <vt:lpstr>HelveticaNeueLT Pro 45 Lt</vt:lpstr>
      <vt:lpstr>HelveticaNeueLT Pro 65 Md</vt:lpstr>
      <vt:lpstr>Myriad Pro</vt:lpstr>
      <vt:lpstr>Roboto</vt:lpstr>
      <vt:lpstr>Univers</vt:lpstr>
      <vt:lpstr>Verdana Pro</vt:lpstr>
      <vt:lpstr>Wingdings</vt:lpstr>
      <vt:lpstr>Title</vt:lpstr>
      <vt:lpstr>Content</vt:lpstr>
      <vt:lpstr>Benutzerdefiniertes Design</vt:lpstr>
      <vt:lpstr>1_Title</vt:lpstr>
      <vt:lpstr>1_Content</vt:lpstr>
      <vt:lpstr>2_Title</vt:lpstr>
      <vt:lpstr>2_Content</vt:lpstr>
      <vt:lpstr>PowerPoint-Präsentation</vt:lpstr>
      <vt:lpstr>Motivation</vt:lpstr>
      <vt:lpstr>Study</vt:lpstr>
      <vt:lpstr>Study</vt:lpstr>
      <vt:lpstr>Study</vt:lpstr>
      <vt:lpstr>Goals of thesis</vt:lpstr>
      <vt:lpstr>Preprocessing</vt:lpstr>
      <vt:lpstr>Preprocessing Pipeline</vt:lpstr>
      <vt:lpstr>Preprocessing</vt:lpstr>
      <vt:lpstr>Preprocessing</vt:lpstr>
      <vt:lpstr>Analysis</vt:lpstr>
      <vt:lpstr>Mass univariate &amp; Deconvolution models</vt:lpstr>
      <vt:lpstr>Inter-stimulus Interval (ISI) effect</vt:lpstr>
      <vt:lpstr>Stimulus duration effect</vt:lpstr>
      <vt:lpstr>Stimulus duration effect</vt:lpstr>
      <vt:lpstr>Stimulus duration effect</vt:lpstr>
      <vt:lpstr>Hotelling‘s t2 test results</vt:lpstr>
      <vt:lpstr>Habituation effect</vt:lpstr>
      <vt:lpstr>Habituation effect</vt:lpstr>
      <vt:lpstr>Results</vt:lpstr>
      <vt:lpstr>Limitations</vt:lpstr>
      <vt:lpstr>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Sauter</dc:creator>
  <cp:lastModifiedBy>Jan Sauter</cp:lastModifiedBy>
  <cp:revision>65</cp:revision>
  <dcterms:created xsi:type="dcterms:W3CDTF">2025-09-30T22:23:59Z</dcterms:created>
  <dcterms:modified xsi:type="dcterms:W3CDTF">2025-12-16T10:37:51Z</dcterms:modified>
</cp:coreProperties>
</file>